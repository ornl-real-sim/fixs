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FIXS  ·  XIL BENCH  ·  dev_v0.9.0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111820"/>
                </a:solidFill>
                <a:latin typeface="Bahnschrift"/>
              </a:rPr>
              <a:t>Axle Dyno ↔ CarMaker Coupling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61488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4"/>
                </a:solidFill>
                <a:latin typeface="Segoe UI"/>
              </a:rPr>
              <a:t>How the working implementation exchanges torque and speed with CarMaker across a single scalar per corner — where the one-step delay comes from, why the loop is stable, and what the architecture cannot tell you about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03904"/>
            <a:ext cx="7498080" cy="969264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w[k] = w[k-1] + (K*Ts / I) * ( Taxl[k] + Trq_T2W[k] 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111820"/>
                </a:solidFill>
                <a:latin typeface="Consolas"/>
              </a:rPr>
              <a:t/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4A5764"/>
                </a:solidFill>
                <a:latin typeface="Consolas"/>
              </a:rPr>
              <a:t>K = 1     Ts = 0.001 s     I = Wheel.&lt;i&gt;.I  (CarMaker parameter)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11496"/>
            <a:ext cx="137160" cy="137160"/>
          </a:xfrm>
          <a:prstGeom prst="rect">
            <a:avLst/>
          </a:prstGeom>
          <a:solidFill>
            <a:srgbClr val="A96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508406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hardware · measured · physical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385816"/>
            <a:ext cx="137160" cy="137160"/>
          </a:xfrm>
          <a:prstGeom prst="rect">
            <a:avLst/>
          </a:prstGeom>
          <a:solidFill>
            <a:srgbClr val="1B6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35838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CarMaker · computed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660136"/>
            <a:ext cx="137160" cy="13716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563270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our Simulink bypass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02 / 09</a:t>
            </a:r>
            <a:r>
              <a:rPr sz="900">
                <a:solidFill>
                  <a:srgbClr val="78838F"/>
                </a:solidFill>
                <a:latin typeface="Consolas"/>
              </a:rPr>
              <a:t>    STATE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One wheel-spin integrator exists in the whole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CarMaker's went out with the PowerTrain module. The hardware's physical spin is servo-slaved. Ours is the only one — which is why nothing can diverge.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011680"/>
            <a:ext cx="3200400" cy="2103120"/>
          </a:xfrm>
          <a:prstGeom prst="rect">
            <a:avLst/>
          </a:prstGeom>
          <a:solidFill>
            <a:srgbClr val="F2E4D3"/>
          </a:solidFill>
          <a:ln w="190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HARDWARE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powertrain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 torque source only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owns no integrated state: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its shaft speed is forced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by the servo</a:t>
            </a:r>
          </a:p>
        </p:txBody>
      </p:sp>
      <p:sp>
        <p:nvSpPr>
          <p:cNvPr id="7" name="Rectangle 6"/>
          <p:cNvSpPr/>
          <p:nvPr/>
        </p:nvSpPr>
        <p:spPr>
          <a:xfrm>
            <a:off x="4498848" y="2011680"/>
            <a:ext cx="3200400" cy="2103120"/>
          </a:xfrm>
          <a:prstGeom prst="rect">
            <a:avLst/>
          </a:prstGeom>
          <a:noFill/>
          <a:ln w="31750">
            <a:solidFill>
              <a:srgbClr val="11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SIMULINK — OURS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wheel spin  w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Backward Euler, Ts = 1 ms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ONLY INTEGRATOR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for this state, anywhere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in the 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0768" y="2011680"/>
            <a:ext cx="3200400" cy="21031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CARMAKER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body · suspension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tire · road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PowerTrain module removed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— so its wheel spin DOF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is gone too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67328" y="2487168"/>
            <a:ext cx="676656" cy="0"/>
          </a:xfrm>
          <a:prstGeom prst="line">
            <a:avLst/>
          </a:prstGeom>
          <a:ln w="28575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49040" y="22311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9611A"/>
                </a:solidFill>
                <a:latin typeface="Consolas"/>
              </a:rPr>
              <a:t>Taxl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767328" y="3584448"/>
            <a:ext cx="676656" cy="0"/>
          </a:xfrm>
          <a:prstGeom prst="line">
            <a:avLst/>
          </a:prstGeom>
          <a:ln w="25400">
            <a:solidFill>
              <a:srgbClr val="A9611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75888" y="365760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9611A"/>
                </a:solidFill>
                <a:latin typeface="Consolas"/>
              </a:rPr>
              <a:t>w_cmd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99248" y="2487168"/>
            <a:ext cx="676656" cy="0"/>
          </a:xfrm>
          <a:prstGeom prst="line">
            <a:avLst/>
          </a:prstGeom>
          <a:ln w="28575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80960" y="22311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646D"/>
                </a:solidFill>
                <a:latin typeface="Consolas"/>
              </a:rPr>
              <a:t>rotv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7699248" y="3584448"/>
            <a:ext cx="676656" cy="0"/>
          </a:xfrm>
          <a:prstGeom prst="line">
            <a:avLst/>
          </a:prstGeom>
          <a:ln w="28575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607808" y="36576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646D"/>
                </a:solidFill>
                <a:latin typeface="Consolas"/>
              </a:rPr>
              <a:t>Trq_T2W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5720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CM DriveLine performs this integration natively — RefMan Fig. 16.83 “Integration of rotation speeds”. We rebuilt that block with the same inertia parameter,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79145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matching IPG's own UserPowerTrain.mdl. Consequence: CM's tire slip is computed from exactly the number that commands the dyno — consistent by construction, not by tracking.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03 / 09</a:t>
            </a:r>
            <a:r>
              <a:rPr sz="900">
                <a:solidFill>
                  <a:srgbClr val="78838F"/>
                </a:solidFill>
                <a:latin typeface="Consolas"/>
              </a:rPr>
              <a:t>    SIGNAL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What crosses the cut at step 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The actual dyno shaft speed never reaches CarMaker. It is seen only by the dyno's internal speed-tracking controller.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03120"/>
            <a:ext cx="2834640" cy="1600200"/>
          </a:xfrm>
          <a:prstGeom prst="rect">
            <a:avLst/>
          </a:prstGeom>
          <a:solidFill>
            <a:srgbClr val="F2E4D3"/>
          </a:solidFill>
          <a:ln w="190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DYNO + VEHICLE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internal speed servo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tracks w_cmd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w_act stays in 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920240"/>
            <a:ext cx="3017520" cy="1965960"/>
          </a:xfrm>
          <a:prstGeom prst="rect">
            <a:avLst/>
          </a:prstGeom>
          <a:noFill/>
          <a:ln w="31750">
            <a:solidFill>
              <a:srgbClr val="11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SIMULINK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w[k] = w[k-1]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 + (Ts/I) *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 ( Taxl[k]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 + Trq_T2W[k] )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0" y="2103120"/>
            <a:ext cx="2743200" cy="160020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CARMAKER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tire → body → road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holds vehicle mass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01568" y="2468880"/>
            <a:ext cx="1161288" cy="0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6432" y="219456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9611A"/>
                </a:solidFill>
                <a:latin typeface="Consolas"/>
              </a:rPr>
              <a:t>Taxl[k]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56032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measured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401568" y="3401568"/>
            <a:ext cx="1161288" cy="0"/>
          </a:xfrm>
          <a:prstGeom prst="line">
            <a:avLst/>
          </a:prstGeom>
          <a:ln w="31750">
            <a:solidFill>
              <a:srgbClr val="A9611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29584" y="347472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9611A"/>
                </a:solidFill>
                <a:latin typeface="Consolas"/>
              </a:rPr>
              <a:t>w_cmd = w[k]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35240" y="2468880"/>
            <a:ext cx="1179576" cy="0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99248" y="219456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646D"/>
                </a:solidFill>
                <a:latin typeface="Consolas"/>
              </a:rPr>
              <a:t>rotv = w[k]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256032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Trq_Drive = Taxl[k]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7635240" y="3401568"/>
            <a:ext cx="1179576" cy="0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72400" y="347472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646D"/>
                </a:solidFill>
                <a:latin typeface="Consolas"/>
              </a:rPr>
              <a:t>Trq_T2W[k]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6928" y="422452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43891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A9611A"/>
                </a:solidFill>
                <a:latin typeface="Consolas"/>
              </a:rPr>
              <a:t>Zeroed by us: all CM brake torque, Trq_Supp2WC, Trq_Supp2Bdy1, Trq_Supp2BdyEng.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0857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Trq_Drive therefore has no live consumer — in this build it is bookkeeping only. The one dynamically active hardware→CM signal is rotv: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82803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CarMaker sees the resultant of Taxl and Ttire, never Taxl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04 / 09</a:t>
            </a:r>
            <a:r>
              <a:rPr sz="900">
                <a:solidFill>
                  <a:srgbClr val="78838F"/>
                </a:solidFill>
                <a:latin typeface="Consolas"/>
              </a:rPr>
              <a:t>    TIMING · THE KEY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Where the one-step delay actually lives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The tire's slip→force map is memoryless. The delay is in the shared variable, because Tire is scheduled before PowerTrain and Rim_rotv is written once per 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459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cycle k-1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6459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9611A"/>
                </a:solidFill>
                <a:latin typeface="Consolas"/>
              </a:rPr>
              <a:t>cycle 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164592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cycle k+1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74520"/>
            <a:ext cx="1572768" cy="658368"/>
          </a:xfrm>
          <a:prstGeom prst="rect">
            <a:avLst/>
          </a:prstGeom>
          <a:noFill/>
          <a:ln w="15875">
            <a:solidFill>
              <a:srgbClr val="C7CE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0"/>
                </a:solidFill>
                <a:latin typeface="Consolas"/>
              </a:rPr>
              <a:t>… PowerTrain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874520"/>
            <a:ext cx="1417320" cy="658368"/>
          </a:xfrm>
          <a:prstGeom prst="rect">
            <a:avLst/>
          </a:prstGeom>
          <a:solidFill>
            <a:srgbClr val="D9E9EA"/>
          </a:solidFill>
          <a:ln w="15875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646D"/>
                </a:solidFill>
                <a:latin typeface="Consolas"/>
              </a:rPr>
              <a:t>Body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874520"/>
            <a:ext cx="1481328" cy="658368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646D"/>
                </a:solidFill>
                <a:latin typeface="Consolas"/>
              </a:rPr>
              <a:t>Tire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0408" y="1874520"/>
            <a:ext cx="914400" cy="658368"/>
          </a:xfrm>
          <a:prstGeom prst="rect">
            <a:avLst/>
          </a:prstGeom>
          <a:solidFill>
            <a:srgbClr val="D9E9EA"/>
          </a:solidFill>
          <a:ln w="15875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646D"/>
                </a:solidFill>
                <a:latin typeface="Consolas"/>
              </a:rPr>
              <a:t>Brake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01968" y="1874520"/>
            <a:ext cx="1783080" cy="658368"/>
          </a:xfrm>
          <a:prstGeom prst="rect">
            <a:avLst/>
          </a:prstGeom>
          <a:noFill/>
          <a:ln w="31750">
            <a:solidFill>
              <a:srgbClr val="11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0"/>
                </a:solidFill>
                <a:latin typeface="Consolas"/>
              </a:rPr>
              <a:t>PowerTrain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9611A"/>
                </a:solidFill>
                <a:latin typeface="Consolas"/>
              </a:rPr>
              <a:t>= OUR BLOCK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22208" y="1874520"/>
            <a:ext cx="1234440" cy="658368"/>
          </a:xfrm>
          <a:prstGeom prst="rect">
            <a:avLst/>
          </a:prstGeom>
          <a:solidFill>
            <a:srgbClr val="D9E9EA"/>
          </a:solidFill>
          <a:ln w="15875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646D"/>
                </a:solidFill>
                <a:latin typeface="Consolas"/>
              </a:rPr>
              <a:t>Body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12680" y="1874520"/>
            <a:ext cx="1618488" cy="658368"/>
          </a:xfrm>
          <a:prstGeom prst="rect">
            <a:avLst/>
          </a:prstGeom>
          <a:noFill/>
          <a:ln w="15875">
            <a:solidFill>
              <a:srgbClr val="C7CE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0"/>
                </a:solidFill>
                <a:latin typeface="Consolas"/>
              </a:rPr>
              <a:t>Tire …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31920" y="1591056"/>
            <a:ext cx="5824728" cy="0"/>
          </a:xfrm>
          <a:prstGeom prst="line">
            <a:avLst/>
          </a:prstGeom>
          <a:ln w="190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6928" y="3310128"/>
            <a:ext cx="1828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shared variable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611A"/>
                </a:solidFill>
                <a:latin typeface="Consolas"/>
              </a:rPr>
              <a:t>Rim_rotv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39696" y="3931920"/>
            <a:ext cx="585216" cy="0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724912" y="3639312"/>
            <a:ext cx="0" cy="292608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24912" y="3639312"/>
            <a:ext cx="4517136" cy="0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242048" y="3346704"/>
            <a:ext cx="0" cy="292608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2048" y="3346704"/>
            <a:ext cx="4389120" cy="0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834640" y="3401568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holds w[k-1]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4" y="310896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holds w[k]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672584" y="2532888"/>
            <a:ext cx="0" cy="1106424"/>
          </a:xfrm>
          <a:prstGeom prst="line">
            <a:avLst/>
          </a:prstGeom>
          <a:ln w="19050">
            <a:solidFill>
              <a:srgbClr val="1B64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54880" y="268833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646D"/>
                </a:solidFill>
                <a:latin typeface="Consolas"/>
              </a:rPr>
              <a:t>READ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646D"/>
                </a:solidFill>
                <a:latin typeface="Consolas"/>
              </a:rPr>
              <a:t>gets w[k-1]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42048" y="2532888"/>
            <a:ext cx="0" cy="813816"/>
          </a:xfrm>
          <a:prstGeom prst="line">
            <a:avLst/>
          </a:prstGeom>
          <a:ln w="19050">
            <a:solidFill>
              <a:srgbClr val="11182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33488" y="268833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820"/>
                </a:solidFill>
                <a:latin typeface="Consolas"/>
              </a:rPr>
              <a:t>WRITE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11820"/>
                </a:solidFill>
                <a:latin typeface="Consolas"/>
              </a:rPr>
              <a:t>emits w[k]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72584" y="4315968"/>
            <a:ext cx="2569464" cy="365760"/>
          </a:xfrm>
          <a:prstGeom prst="rect">
            <a:avLst/>
          </a:prstGeom>
          <a:solidFill>
            <a:srgbClr val="F2E4D3"/>
          </a:solidFill>
          <a:ln w="190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611A"/>
                </a:solidFill>
                <a:latin typeface="Consolas"/>
              </a:rPr>
              <a:t>this gap IS the z⁻¹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72584" y="3694176"/>
            <a:ext cx="0" cy="621792"/>
          </a:xfrm>
          <a:prstGeom prst="line">
            <a:avLst/>
          </a:prstGeom>
          <a:ln w="12700">
            <a:solidFill>
              <a:srgbClr val="A961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242048" y="3401568"/>
            <a:ext cx="0" cy="914400"/>
          </a:xfrm>
          <a:prstGeom prst="line">
            <a:avLst/>
          </a:prstGeom>
          <a:ln w="12700">
            <a:solidFill>
              <a:srgbClr val="A961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98080" y="437083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A memoryless block fed a stale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input still produces a delayed output.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95604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The delay is also REQUIRED: without it, w[k] = w[k-1] + (Ts/I)(Taxl[k] + f(w[k])) is implicit in w[k] — an algebraic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1755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needing iteration, which real-time code cannot do. Either the tire's relaxation states break the loop, or this scheduling delay does.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05 / 09</a:t>
            </a:r>
            <a:r>
              <a:rPr sz="900">
                <a:solidFill>
                  <a:srgbClr val="78838F"/>
                </a:solidFill>
                <a:latin typeface="Consolas"/>
              </a:rPr>
              <a:t>    TWO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The wheel integration is not after PowerTrain — it IS PowerTrain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Routinely conflated. They happen at different points in the sequence and are owned by different parties.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74520"/>
            <a:ext cx="5394960" cy="1243584"/>
          </a:xfrm>
          <a:prstGeom prst="rect">
            <a:avLst/>
          </a:prstGeom>
          <a:solidFill>
            <a:srgbClr val="F2E4D3"/>
          </a:solidFill>
          <a:ln w="190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A · OURS — wheel spin  w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At the PowerTrain slot. CM natively does it in the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DriveLine — “Integration of rotation speeds”, Fig 16.83.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In our build, our Simulink block IS this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6208" y="1874520"/>
            <a:ext cx="5394960" cy="1243584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B · CARMAKER — body &amp; suspension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At Body Frame, AFTER PowerTrain. Fig 1.23 brackets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whole vehicle-model evaluation as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“One integration step”.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310128"/>
            <a:ext cx="11064240" cy="1225296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4"/>
                </a:solidFill>
                <a:latin typeface="Consolas"/>
              </a:rPr>
              <a:t>Tire         reads  Rim_rotv = w[k-1],  emits Trq_T2W[k]      (memoryless map)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4A5764"/>
                </a:solidFill>
                <a:latin typeface="Consolas"/>
              </a:rPr>
              <a:t>Brake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1">
                <a:solidFill>
                  <a:srgbClr val="A9611A"/>
                </a:solidFill>
                <a:latin typeface="Consolas"/>
              </a:rPr>
              <a:t>PowerTrain   INTEGRATION A:  w[k] = w[k-1] + (Ts/I)(Taxl[k] + Trq_T2W[k])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1">
                <a:solidFill>
                  <a:srgbClr val="1B646D"/>
                </a:solidFill>
                <a:latin typeface="Consolas"/>
              </a:rPr>
              <a:t>Body Frame   INTEGRATION B:  advances chassis / suspension states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736592"/>
            <a:ext cx="5394960" cy="1243584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CM's solver is Backward Euler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“Since the solver used in CarMaker is backwards-euler,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user needs to choose this option.”  Our K*Ts*z/(z-1)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matches CM's own solver, not just IPG's reference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4736592"/>
            <a:ext cx="5394960" cy="1243584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THE ONE RULE — add no further delay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ordering supplies exactly one step, free. Any Memory,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Unit Delay or rate transition on Trq_T2W → integrator →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rotv makes d = 2, costing a further dzeta ~ 0.14.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06 / 09</a:t>
            </a:r>
            <a:r>
              <a:rPr sz="900">
                <a:solidFill>
                  <a:srgbClr val="78838F"/>
                </a:solidFill>
                <a:latin typeface="Consolas"/>
              </a:rPr>
              <a:t>    INSIDE THE TIRE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Almost stateless — and the exception is what saves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28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5798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P_v0_W[0..2]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14016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Rim_rotv   ← our w[k-1]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67004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Frc_W[2] = Fz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926080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InclinAngle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8211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muRoad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43814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Rim_turnv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822192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33723"/>
                </a:solidFill>
                <a:latin typeface="Consolas"/>
              </a:rPr>
              <a:t>no torque input exists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40" y="1828800"/>
            <a:ext cx="4846320" cy="658368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8838F"/>
                </a:solidFill>
                <a:latin typeface="Consolas"/>
              </a:rPr>
              <a:t>1 · kinematics → slip  — algebraic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 = (Rim_rotv*rBelt_eff - vx) / |…|      alpha = atan(vy/|vx|)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40" y="2615184"/>
            <a:ext cx="4846320" cy="786384"/>
          </a:xfrm>
          <a:prstGeom prst="rect">
            <a:avLst/>
          </a:prstGeom>
          <a:solidFill>
            <a:srgbClr val="F2E4D3"/>
          </a:solidFill>
          <a:ln w="2540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9611A"/>
                </a:solidFill>
                <a:latin typeface="Consolas"/>
              </a:rPr>
              <a:t>1.5 · RELAXATION — THE ONLY STATE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du/dt, dv/dt  (EQ 383-384)    tau = sigma / |Vcx|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2-3 states per wheel · only if USE_MODE &gt;= +10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3529584"/>
            <a:ext cx="4846320" cy="566928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8838F"/>
                </a:solidFill>
                <a:latin typeface="Consolas"/>
              </a:rPr>
              <a:t>2 · pure-slip forces — algebraic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Fx0(s)        Fy0(alpha)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4206240"/>
            <a:ext cx="4846320" cy="786384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646D"/>
                </a:solidFill>
                <a:latin typeface="Consolas"/>
              </a:rPr>
              <a:t>3 · COMBINED SLIP — algebraic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Fx = Gx(alpha) * Fx0(s)      EQ 352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Fy = Gy(s)     * Fy0(alpha)  EQ 360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40" y="5120640"/>
            <a:ext cx="4846320" cy="621792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8838F"/>
                </a:solidFill>
                <a:latin typeface="Consolas"/>
              </a:rPr>
              <a:t>4 · spin-axis moment — algebraic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Trq_T2W  !=  -r*Fx   —  also carries TrqRR (SAE J2452)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1828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OUTPUTS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15798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Slp   Alpha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414016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TurnSlp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67004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vBelt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926080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rBelt_eff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18211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Frc_W  Fx Fy Fz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343814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Trq_W  Mx My Mz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39319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646D"/>
                </a:solidFill>
                <a:latin typeface="Consolas"/>
              </a:rPr>
              <a:t>Trq_T2W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352544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Fz is an INPUT, not a state: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CPI models carry 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vertical dynamics.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83280" y="2651760"/>
            <a:ext cx="310896" cy="0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631936" y="4023360"/>
            <a:ext cx="320040" cy="0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588873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The relaxation states set the ~45 Hz mode on the next slide. Without them the tire is an instantaneous spring from rotv to torque and the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10819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delayed loop is far less forgiving. Model.USE_MODE 11/12 gives exactly that stateless version.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07 / 09</a:t>
            </a:r>
            <a:r>
              <a:rPr sz="900">
                <a:solidFill>
                  <a:srgbClr val="78838F"/>
                </a:solidFill>
                <a:latin typeface="Consolas"/>
              </a:rPr>
              <a:t>    LONGITUDINAL ↔ LATERAL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The bench is longitudinal-only, but the load it sees is lateral-aware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11680"/>
            <a:ext cx="2286000" cy="786384"/>
          </a:xfrm>
          <a:prstGeom prst="rect">
            <a:avLst/>
          </a:prstGeom>
          <a:noFill/>
          <a:ln w="317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our w[k]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→ vBelt → 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931920"/>
            <a:ext cx="2286000" cy="786384"/>
          </a:xfrm>
          <a:prstGeom prst="rect">
            <a:avLst/>
          </a:prstGeom>
          <a:noFill/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steer, yaw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→ vy(P) → alpha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40" y="1920240"/>
            <a:ext cx="3017520" cy="969264"/>
          </a:xfrm>
          <a:prstGeom prst="rect">
            <a:avLst/>
          </a:prstGeom>
          <a:solidFill>
            <a:srgbClr val="F2E4D3"/>
          </a:solidFill>
          <a:ln w="190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Fx = Gx(alpha)·Fx0(s)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longitudinal force,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de-rated by sideslip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40" y="3840480"/>
            <a:ext cx="3017520" cy="969264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Fy = Gy(s)·Fy0(alpha)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lateral force,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de-rated by long. slip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920240"/>
            <a:ext cx="2743200" cy="969264"/>
          </a:xfrm>
          <a:prstGeom prst="rect">
            <a:avLst/>
          </a:prstGeom>
          <a:noFill/>
          <a:ln w="317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Trq_T2W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back into our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integrator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840480"/>
            <a:ext cx="2743200" cy="969264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Fz — load transfer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pitch → understeer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balance shifts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52928" y="2404872"/>
            <a:ext cx="841248" cy="0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852928" y="4325112"/>
            <a:ext cx="841248" cy="0"/>
          </a:xfrm>
          <a:prstGeom prst="line">
            <a:avLst/>
          </a:prstGeom>
          <a:ln w="2540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66560" y="2404872"/>
            <a:ext cx="950976" cy="0"/>
          </a:xfrm>
          <a:prstGeom prst="line">
            <a:avLst/>
          </a:prstGeom>
          <a:ln w="38100">
            <a:solidFill>
              <a:srgbClr val="9337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66560" y="4325112"/>
            <a:ext cx="950976" cy="0"/>
          </a:xfrm>
          <a:prstGeom prst="line">
            <a:avLst/>
          </a:prstGeom>
          <a:ln w="2540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669280" y="2889504"/>
            <a:ext cx="0" cy="896112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779008" y="3145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A   s → Gy(s)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     Fy de-rated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846320" y="2889504"/>
            <a:ext cx="0" cy="896112"/>
          </a:xfrm>
          <a:prstGeom prst="line">
            <a:avLst/>
          </a:prstGeom>
          <a:ln w="38100">
            <a:solidFill>
              <a:srgbClr val="9337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840480" y="32186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Consolas"/>
              </a:rPr>
              <a:t>C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9144000" y="2889504"/>
            <a:ext cx="0" cy="896112"/>
          </a:xfrm>
          <a:prstGeom prst="line">
            <a:avLst/>
          </a:prstGeom>
          <a:ln w="19050">
            <a:solidFill>
              <a:srgbClr val="C7CED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76288" y="405993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8838F"/>
                </a:solidFill>
                <a:latin typeface="Consolas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69880" y="201168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33723"/>
                </a:solidFill>
                <a:latin typeface="Consolas"/>
              </a:rPr>
              <a:t>PATH 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33723"/>
                </a:solidFill>
                <a:latin typeface="Consolas"/>
              </a:rPr>
              <a:t>reaches the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33723"/>
                </a:solidFill>
                <a:latin typeface="Consolas"/>
              </a:rPr>
              <a:t>hardware.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3950208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Path B partly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suppressed: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Supp2WC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19379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In a corner the same axle torque produces a different wheel acceleration — cornering reaches the bench through the torque, with no lateral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41324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signal crossing the interface. All three paths require Model.USE_MODE to select combined slip; at 11 or 12, paths A and C do not exist.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08 / 09</a:t>
            </a:r>
            <a:r>
              <a:rPr sz="900">
                <a:solidFill>
                  <a:srgbClr val="78838F"/>
                </a:solidFill>
                <a:latin typeface="Consolas"/>
              </a:rPr>
              <a:t>   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A ~45 Hz mode whose damping grows with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Wheel inertia against tire relaxation gives a second-order system. Natural frequency is speed-independent; damping is proportional to speed.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10512"/>
            <a:ext cx="11064240" cy="1005840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wn   = r * sqrt( Cs / (I*sigma) )  ~ 286 rad/s ~ 45 Hz   — INDEPENDENT of speed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111820"/>
                </a:solidFill>
                <a:latin typeface="Consolas"/>
              </a:rPr>
              <a:t>zeta = vx / (2*sigma*wn)           ~ vx / 28.6           — proportional to speed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100" b="1">
                <a:solidFill>
                  <a:srgbClr val="A9611A"/>
                </a:solidFill>
                <a:latin typeface="Consolas"/>
              </a:rPr>
              <a:t>delay cost                         ~ wn*Ts/2 = 0.143     — fixed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72384"/>
            <a:ext cx="6492240" cy="2304288"/>
          </a:xfrm>
          <a:prstGeom prst="rect">
            <a:avLst/>
          </a:prstGeom>
          <a:noFill/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072384"/>
            <a:ext cx="432816" cy="2304288"/>
          </a:xfrm>
          <a:prstGeom prst="rect">
            <a:avLst/>
          </a:prstGeom>
          <a:solidFill>
            <a:srgbClr val="D9E9EA"/>
          </a:solidFill>
          <a:ln w="6350">
            <a:solidFill>
              <a:srgbClr val="D9E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255776" y="3072384"/>
            <a:ext cx="454457" cy="2304288"/>
          </a:xfrm>
          <a:prstGeom prst="rect">
            <a:avLst/>
          </a:prstGeom>
          <a:solidFill>
            <a:srgbClr val="F3DED8"/>
          </a:solidFill>
          <a:ln w="6350">
            <a:solidFill>
              <a:srgbClr val="F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822960" y="4800600"/>
            <a:ext cx="6492240" cy="0"/>
          </a:xfrm>
          <a:prstGeom prst="line">
            <a:avLst/>
          </a:prstGeom>
          <a:ln w="9525">
            <a:solidFill>
              <a:srgbClr val="C7CED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02336" y="4700016"/>
            <a:ext cx="4023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0.2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4224528"/>
            <a:ext cx="6492240" cy="0"/>
          </a:xfrm>
          <a:prstGeom prst="line">
            <a:avLst/>
          </a:prstGeom>
          <a:ln w="9525">
            <a:solidFill>
              <a:srgbClr val="C7CED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2336" y="4123944"/>
            <a:ext cx="4023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0.4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648456"/>
            <a:ext cx="6492240" cy="0"/>
          </a:xfrm>
          <a:prstGeom prst="line">
            <a:avLst/>
          </a:prstGeom>
          <a:ln w="9525">
            <a:solidFill>
              <a:srgbClr val="C7CED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02336" y="3547872"/>
            <a:ext cx="4023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0.6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60" y="5376672"/>
            <a:ext cx="6492240" cy="0"/>
          </a:xfrm>
          <a:prstGeom prst="line">
            <a:avLst/>
          </a:prstGeom>
          <a:ln w="19050">
            <a:solidFill>
              <a:srgbClr val="11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22960" y="2355315"/>
            <a:ext cx="6492240" cy="3021357"/>
          </a:xfrm>
          <a:prstGeom prst="line">
            <a:avLst/>
          </a:prstGeom>
          <a:ln w="31750">
            <a:solidFill>
              <a:srgbClr val="1B64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08069" y="2767207"/>
            <a:ext cx="5607131" cy="2609465"/>
          </a:xfrm>
          <a:prstGeom prst="line">
            <a:avLst/>
          </a:prstGeom>
          <a:ln w="3810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54880" y="3129991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646D"/>
                </a:solidFill>
                <a:latin typeface="Consolas"/>
              </a:rPr>
              <a:t>zeta physical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878885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9611A"/>
                </a:solidFill>
                <a:latin typeface="Consolas"/>
              </a:rPr>
              <a:t>after 1-step delay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4040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244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448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652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856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0608" y="54315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632704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vehicle speed  vx  [m/s]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3145536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646D"/>
                </a:solidFill>
                <a:latin typeface="Consolas"/>
              </a:rPr>
              <a:t>CM stand-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646D"/>
                </a:solidFill>
                <a:latin typeface="Consolas"/>
              </a:rPr>
              <a:t>still model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646D"/>
                </a:solidFill>
                <a:latin typeface="Consolas"/>
              </a:rPr>
              <a:t>below 2.0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6596" y="3145536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33723"/>
                </a:solidFill>
                <a:latin typeface="Consolas"/>
              </a:rPr>
              <a:t>exposed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33723"/>
                </a:solidFill>
                <a:latin typeface="Consolas"/>
              </a:rPr>
              <a:t>band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33723"/>
                </a:solidFill>
                <a:latin typeface="Consolas"/>
              </a:rPr>
              <a:t>2 – 4.1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7635240" y="3072384"/>
          <a:ext cx="4251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60120"/>
                <a:gridCol w="109728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78838F"/>
                          </a:solidFill>
                          <a:latin typeface="Consolas"/>
                        </a:rPr>
                        <a:t>vx [m/s]</a:t>
                      </a:r>
                    </a:p>
                  </a:txBody>
                  <a:tcPr marL="64008" marR="6400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78838F"/>
                          </a:solidFill>
                          <a:latin typeface="Consolas"/>
                        </a:rPr>
                        <a:t>zeta phys</a:t>
                      </a:r>
                    </a:p>
                  </a:txBody>
                  <a:tcPr marL="64008" marR="6400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78838F"/>
                          </a:solidFill>
                          <a:latin typeface="Consolas"/>
                        </a:rPr>
                        <a:t>after delay</a:t>
                      </a:r>
                    </a:p>
                  </a:txBody>
                  <a:tcPr marL="64008" marR="64008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78838F"/>
                          </a:solidFill>
                          <a:latin typeface="Consolas"/>
                        </a:rPr>
                        <a:t>verdict</a:t>
                      </a:r>
                    </a:p>
                  </a:txBody>
                  <a:tcPr marL="64008" marR="64008">
                    <a:solidFill>
                      <a:srgbClr val="F4F6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0.70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0.56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well damped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0.35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0.21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fine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0.175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0.03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820"/>
                          </a:solidFill>
                          <a:latin typeface="Consolas"/>
                        </a:rPr>
                        <a:t>marginal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933723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933723"/>
                          </a:solidFill>
                          <a:latin typeface="Consolas"/>
                        </a:rPr>
                        <a:t>0.070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933723"/>
                          </a:solidFill>
                          <a:latin typeface="Consolas"/>
                        </a:rPr>
                        <a:t>-0.07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933723"/>
                          </a:solidFill>
                          <a:latin typeface="Consolas"/>
                        </a:rPr>
                        <a:t>mode switch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566928" y="55778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The mode is PHYSICAL — the tire/wheel torsional resonance a real vehicle has. The delay only removes damping from it. Below 2.0 m/s CarMaker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79729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switches to its stand-still tire model. The residual 2–4.1 m/s band is covered on the bench by switching the dyno to torque mode with Ttire = 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09 / 09</a:t>
            </a:r>
            <a:r>
              <a:rPr sz="900">
                <a:solidFill>
                  <a:srgbClr val="78838F"/>
                </a:solidFill>
                <a:latin typeface="Consolas"/>
              </a:rPr>
              <a:t>   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Why it works, and the two things it cannot tell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45920"/>
            <a:ext cx="3520440" cy="14173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One integrator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Divergence needs two states drifting apart.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There is one. CM's tire slip comes from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exactly the number that commands the dyno.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15968" y="1645920"/>
            <a:ext cx="3520440" cy="14173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IPG's sanctioned bypass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Backward Euler at 1 ms with Wheel.&lt;i&gt;.I read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from CM parameters — block-for-block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identical to UserPowerTrain.mdl.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8" y="1645920"/>
            <a:ext cx="3520440" cy="14173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Bounded, not divergent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 2 N·m torque bias yields 1e-4 slip offset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and ~0.24 m/s speed offset: tire slip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stiffness and road-load drag both restore.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273552"/>
            <a:ext cx="5440680" cy="1325880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BLIND SPOT — the servo error is invisible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CM never sees w_act. If the servo saturates we integrate a torque measured at the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wrong operating point. Nothing rings, nothing diverges — the sim quietly becomes a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different vehicle.  ACTION: log w_act - w_cmd and alarm on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3273552"/>
            <a:ext cx="5440680" cy="1325880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BLIND SPOT — Taxl cannot be validated against CM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CarMaker never sees Taxl dynamically, so a torque-measurement error surfaces only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as that ~0.24 m/s bias — indistinguishable from a dozen modelling choices.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Calibration must be established on the bench.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809744"/>
            <a:ext cx="3520440" cy="123444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Still open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Model.USE_MODE in the tire file — decides both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whether combined slip exists and which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stability analysis applies. Expected 13/14/15.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8" y="4809744"/>
            <a:ext cx="3520440" cy="123444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Recorded simplifications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All CM brake torque zeroed (real braking is inside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Taxl). Trq_Supp2WC / Supp2Bdy1 / Supp2BdyEng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zeroed — no squat, no engine-mount reaction.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5008" y="4809744"/>
            <a:ext cx="3520440" cy="123444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Full detail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doc/xil/AxleDynoCarMakerCoupling.md — k-indexed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equations, source citations, and the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open-item register.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