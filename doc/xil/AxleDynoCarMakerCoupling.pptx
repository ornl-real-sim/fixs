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9611A"/>
                </a:solidFill>
                <a:latin typeface="Consolas"/>
              </a:rPr>
              <a:t>FIXS  ·  XIL BENCH  ·  dev_v0.9.0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11820"/>
                </a:solidFill>
                <a:latin typeface="Bahnschrift"/>
              </a:rPr>
              <a:t>Axle Dyno ↔ CarMaker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6148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4"/>
                </a:solidFill>
                <a:latin typeface="Segoe UI"/>
              </a:rPr>
              <a:t>How the working implementation exchanges torque and speed with CarMaker across a single scalar per corner — where the one-step delay comes from, why the loop is stable, and what the architecture cannot tell you about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03904"/>
            <a:ext cx="7498080" cy="969264"/>
          </a:xfrm>
          <a:prstGeom prst="rect">
            <a:avLst/>
          </a:prstGeom>
          <a:solidFill>
            <a:srgbClr val="F4F6F7"/>
          </a:solidFill>
          <a:ln w="1270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54864" lIns="14630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Consolas"/>
              </a:rPr>
              <a:t>w[k] = w[k-1] + (K*Ts / I) * ( Taxl[k] + Trq_T2W[k] 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111820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4A5764"/>
                </a:solidFill>
                <a:latin typeface="Consolas"/>
              </a:rPr>
              <a:t>K = 1     Ts = 0.001 s     I = Wheel.&lt;i&gt;.I  (CarMaker parameter)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11496"/>
            <a:ext cx="137160" cy="137160"/>
          </a:xfrm>
          <a:prstGeom prst="rect">
            <a:avLst/>
          </a:prstGeom>
          <a:solidFill>
            <a:srgbClr val="A96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508406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764"/>
                </a:solidFill>
                <a:latin typeface="Consolas"/>
              </a:rPr>
              <a:t>hardware · measured · physical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85816"/>
            <a:ext cx="137160" cy="137160"/>
          </a:xfrm>
          <a:prstGeom prst="rect">
            <a:avLst/>
          </a:prstGeom>
          <a:solidFill>
            <a:srgbClr val="1B6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535838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764"/>
                </a:solidFill>
                <a:latin typeface="Consolas"/>
              </a:rPr>
              <a:t>CarMaker · computed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660136"/>
            <a:ext cx="137160" cy="13716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563270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764"/>
                </a:solidFill>
                <a:latin typeface="Consolas"/>
              </a:rPr>
              <a:t>our Simulink bypass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02 / 06</a:t>
            </a:r>
            <a:r>
              <a:rPr sz="900">
                <a:solidFill>
                  <a:srgbClr val="78838F"/>
                </a:solidFill>
                <a:latin typeface="Consolas"/>
              </a:rPr>
              <a:t>   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What each part owns, and what crosses between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Three parts, four signals, one equation. The wheel speed is computed in Simulink and sent to both sides. Nothing else crosses.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2880360" cy="1554480"/>
          </a:xfrm>
          <a:prstGeom prst="rect">
            <a:avLst/>
          </a:prstGeom>
          <a:solidFill>
            <a:srgbClr val="F2E4D3"/>
          </a:solidFill>
          <a:ln w="19050">
            <a:solidFill>
              <a:srgbClr val="A9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611A"/>
                </a:solidFill>
                <a:latin typeface="Bahnschrift"/>
              </a:rPr>
              <a:t>HARDWARE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real powertrain on the dyno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dyno speed controller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makes the shaft follow 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700784"/>
            <a:ext cx="3566160" cy="1847088"/>
          </a:xfrm>
          <a:prstGeom prst="rect">
            <a:avLst/>
          </a:prstGeom>
          <a:noFill/>
          <a:ln w="31750">
            <a:solidFill>
              <a:srgbClr val="11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SIMULINK — OUR BLOCK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w[k] = w[k-1]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     + (Ts / I) * ( Taxl[k]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     + Trq_T2W[k] )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Ts = 0.001 s, same step as CarMaker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I  = Wheel.&lt;i&gt;.I, read from CarMaker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750808" y="1847088"/>
            <a:ext cx="2880360" cy="1554480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CARMAKER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tire, body, suspension, road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Uses w to find tire slip,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then returns the tire torque.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47288" y="2212848"/>
            <a:ext cx="813816" cy="0"/>
          </a:xfrm>
          <a:prstGeom prst="line">
            <a:avLst/>
          </a:prstGeom>
          <a:ln w="31750">
            <a:solidFill>
              <a:srgbClr val="A9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4720" y="193852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9611A"/>
                </a:solidFill>
                <a:latin typeface="Consolas"/>
              </a:rPr>
              <a:t>Taxl[k]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9572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838F"/>
                </a:solidFill>
                <a:latin typeface="Consolas"/>
              </a:rPr>
              <a:t>measured axle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838F"/>
                </a:solidFill>
                <a:latin typeface="Consolas"/>
              </a:rPr>
              <a:t>torque [Nm]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447288" y="3127248"/>
            <a:ext cx="813816" cy="0"/>
          </a:xfrm>
          <a:prstGeom prst="line">
            <a:avLst/>
          </a:prstGeom>
          <a:ln w="31750">
            <a:solidFill>
              <a:srgbClr val="A961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0" y="3200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9611A"/>
                </a:solidFill>
                <a:latin typeface="Consolas"/>
              </a:rPr>
              <a:t>w[k] as speed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9611A"/>
                </a:solidFill>
                <a:latin typeface="Consolas"/>
              </a:rPr>
              <a:t>command [rad/s]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2128" y="2212848"/>
            <a:ext cx="813816" cy="0"/>
          </a:xfrm>
          <a:prstGeom prst="line">
            <a:avLst/>
          </a:prstGeom>
          <a:ln w="31750">
            <a:solidFill>
              <a:srgbClr val="1B64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09560" y="193852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646D"/>
                </a:solidFill>
                <a:latin typeface="Consolas"/>
              </a:rPr>
              <a:t>w[k]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39572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838F"/>
                </a:solidFill>
                <a:latin typeface="Consolas"/>
              </a:rPr>
              <a:t>written to rotv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838F"/>
                </a:solidFill>
                <a:latin typeface="Consolas"/>
              </a:rPr>
              <a:t>[rad/s]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882128" y="3127248"/>
            <a:ext cx="813816" cy="0"/>
          </a:xfrm>
          <a:prstGeom prst="line">
            <a:avLst/>
          </a:prstGeom>
          <a:ln w="31750">
            <a:solidFill>
              <a:srgbClr val="1B64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09560" y="3200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646D"/>
                </a:solidFill>
                <a:latin typeface="Consolas"/>
              </a:rPr>
              <a:t>Trq_T2W[k]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838F"/>
                </a:solidFill>
                <a:latin typeface="Consolas"/>
              </a:rPr>
              <a:t>tire torque [Nm]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3931920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4078224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9611A"/>
                </a:solidFill>
                <a:latin typeface="Consolas"/>
              </a:rPr>
              <a:t>The same w[k] goes to both sides.</a:t>
            </a:r>
            <a:r>
              <a:rPr sz="1000">
                <a:solidFill>
                  <a:srgbClr val="4A5764"/>
                </a:solidFill>
                <a:latin typeface="Consolas"/>
              </a:rPr>
              <a:t>   CarMaker is given the computed speed, not the measured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352544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820"/>
                </a:solidFill>
                <a:latin typeface="Consolas"/>
              </a:rPr>
              <a:t>The real shaft speed stays in the dyno controller.</a:t>
            </a:r>
            <a:r>
              <a:rPr sz="1000">
                <a:solidFill>
                  <a:srgbClr val="4A5764"/>
                </a:solidFill>
                <a:latin typeface="Consolas"/>
              </a:rPr>
              <a:t>   If the servo lags, CarMaker never finds 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626864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646D"/>
                </a:solidFill>
                <a:latin typeface="Consolas"/>
              </a:rPr>
              <a:t>CarMaker has no wheel speed of its own.</a:t>
            </a:r>
            <a:r>
              <a:rPr sz="1000">
                <a:solidFill>
                  <a:srgbClr val="4A5764"/>
                </a:solidFill>
                <a:latin typeface="Consolas"/>
              </a:rPr>
              <a:t>   Its integrator went with the PowerTrain module, so ours is the only 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901184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820"/>
                </a:solidFill>
                <a:latin typeface="Consolas"/>
              </a:rPr>
              <a:t>CarMaker never uses Taxl either.</a:t>
            </a:r>
            <a:r>
              <a:rPr sz="1000">
                <a:solidFill>
                  <a:srgbClr val="4A5764"/>
                </a:solidFill>
                <a:latin typeface="Consolas"/>
              </a:rPr>
              <a:t>   We send it, but with the support torques zeroed nothing reads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32180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Read it as a sentence: add the measured axle torque to the tire torque from CarMaker, divide by the wheel inertia, integrate.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54126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CarMaker does this same integration natively in its DriveLine (RefMan Fig. 16.83). We rebuilt that block with the same inertia parameter,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7607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matching IPG's own UserPowerTrain.mdl. All CarMaker brake torque is zeroed here, because real braking is already inside Taxl.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03 / 06</a:t>
            </a:r>
            <a:r>
              <a:rPr sz="900">
                <a:solidFill>
                  <a:srgbClr val="78838F"/>
                </a:solidFill>
                <a:latin typeface="Consolas"/>
              </a:rPr>
              <a:t>   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One integration step, in a fixed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Everything from here on answers one question: how is Trq_T2W[k] produced. Start with when CarMaker computes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73936"/>
            <a:ext cx="0" cy="2670048"/>
          </a:xfrm>
          <a:prstGeom prst="line">
            <a:avLst/>
          </a:prstGeom>
          <a:ln w="25400">
            <a:solidFill>
              <a:srgbClr val="A96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1773936"/>
            <a:ext cx="201168" cy="0"/>
          </a:xfrm>
          <a:prstGeom prst="line">
            <a:avLst/>
          </a:prstGeom>
          <a:ln w="25400">
            <a:solidFill>
              <a:srgbClr val="A96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4443984"/>
            <a:ext cx="201168" cy="0"/>
          </a:xfrm>
          <a:prstGeom prst="line">
            <a:avLst/>
          </a:prstGeom>
          <a:ln w="25400">
            <a:solidFill>
              <a:srgbClr val="A96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184" y="2011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9611A"/>
                </a:solidFill>
                <a:latin typeface="Consolas"/>
              </a:rPr>
              <a:t>ONE INTEGRATION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221284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9611A"/>
                </a:solidFill>
                <a:latin typeface="Consolas"/>
              </a:rPr>
              <a:t>Ts = 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Consolas"/>
              </a:rPr>
              <a:t>Vehicle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95681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764"/>
                </a:solidFill>
                <a:latin typeface="Consolas"/>
              </a:rPr>
              <a:t>Steering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17627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764"/>
                </a:solidFill>
                <a:latin typeface="Consolas"/>
              </a:rPr>
              <a:t>Suspension kinematics &amp;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3957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764"/>
                </a:solidFill>
                <a:latin typeface="Consolas"/>
              </a:rPr>
              <a:t>Aerodynamics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61518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764"/>
                </a:solidFill>
                <a:latin typeface="Consolas"/>
              </a:rPr>
              <a:t>Suspension forces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0432" y="2889504"/>
            <a:ext cx="3246120" cy="566928"/>
          </a:xfrm>
          <a:prstGeom prst="rect">
            <a:avLst/>
          </a:prstGeom>
          <a:solidFill>
            <a:srgbClr val="D9E9EA"/>
          </a:solidFill>
          <a:ln w="2540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646D"/>
                </a:solidFill>
                <a:latin typeface="Consolas"/>
              </a:rPr>
              <a:t>Tire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4A5764"/>
                </a:solidFill>
                <a:latin typeface="Consolas"/>
              </a:rPr>
              <a:t>reads the wheel speed as it stands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Consolas"/>
              </a:rPr>
              <a:t>Brake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0432" y="3858768"/>
            <a:ext cx="3246120" cy="566928"/>
          </a:xfrm>
          <a:prstGeom prst="rect">
            <a:avLst/>
          </a:prstGeom>
          <a:noFill/>
          <a:ln w="31750">
            <a:solidFill>
              <a:srgbClr val="11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111820"/>
                </a:solidFill>
                <a:latin typeface="Consolas"/>
              </a:rPr>
              <a:t>PowerTrain</a:t>
            </a:r>
            <a:r>
              <a:rPr sz="900">
                <a:solidFill>
                  <a:srgbClr val="A9611A"/>
                </a:solidFill>
                <a:latin typeface="Consolas"/>
              </a:rPr>
              <a:t>     &lt;- our block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4A5764"/>
                </a:solidFill>
                <a:latin typeface="Consolas"/>
              </a:rPr>
              <a:t>advances the wheel speed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" y="4553712"/>
            <a:ext cx="3246120" cy="329184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646D"/>
                </a:solidFill>
                <a:latin typeface="Consolas"/>
              </a:rPr>
              <a:t>Body Frame   advances the chassis states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3456432"/>
            <a:ext cx="0" cy="347472"/>
          </a:xfrm>
          <a:prstGeom prst="line">
            <a:avLst/>
          </a:prstGeom>
          <a:ln w="25400">
            <a:solidFill>
              <a:srgbClr val="C7CE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88920" y="4425696"/>
            <a:ext cx="0" cy="73152"/>
          </a:xfrm>
          <a:prstGeom prst="line">
            <a:avLst/>
          </a:prstGeom>
          <a:ln w="25400">
            <a:solidFill>
              <a:srgbClr val="C7CE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16552" y="3172968"/>
            <a:ext cx="521208" cy="0"/>
          </a:xfrm>
          <a:prstGeom prst="line">
            <a:avLst/>
          </a:prstGeom>
          <a:ln w="25400">
            <a:solidFill>
              <a:srgbClr val="1B64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92624" y="2889504"/>
            <a:ext cx="3017520" cy="566928"/>
          </a:xfrm>
          <a:prstGeom prst="rect">
            <a:avLst/>
          </a:prstGeom>
          <a:noFill/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46D"/>
                </a:solidFill>
                <a:latin typeface="Consolas"/>
              </a:rPr>
              <a:t>uses  w[k-1]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1">
                <a:solidFill>
                  <a:srgbClr val="1B646D"/>
                </a:solidFill>
                <a:latin typeface="Consolas"/>
              </a:rPr>
              <a:t>emits Trq_T2W[k]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16552" y="4142232"/>
            <a:ext cx="521208" cy="0"/>
          </a:xfrm>
          <a:prstGeom prst="line">
            <a:avLst/>
          </a:prstGeom>
          <a:ln w="31750">
            <a:solidFill>
              <a:srgbClr val="11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992624" y="3858768"/>
            <a:ext cx="4206240" cy="566928"/>
          </a:xfrm>
          <a:prstGeom prst="rect">
            <a:avLst/>
          </a:prstGeom>
          <a:solidFill>
            <a:srgbClr val="F2E4D3"/>
          </a:solidFill>
          <a:ln w="25400">
            <a:solidFill>
              <a:srgbClr val="A9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0"/>
                </a:solidFill>
                <a:latin typeface="Consolas"/>
              </a:rPr>
              <a:t>w[k] = w[k-1] + (Ts / I) *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111820"/>
                </a:solidFill>
                <a:latin typeface="Consolas"/>
              </a:rPr>
              <a:t>           ( Taxl[k] + Trq_T2W[k] 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08406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9611A"/>
                </a:solidFill>
                <a:latin typeface="Consolas"/>
              </a:rPr>
              <a:t>The tire is evaluated before the wheel speed is advanced, so it uses the value the state holds at the start of the step.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035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That is what advancing an ODE state means. It is not a delay added by our bypass: CarMaker's own powertrain does the same thing.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577840"/>
            <a:ext cx="3520440" cy="969264"/>
          </a:xfrm>
          <a:prstGeom prst="rect">
            <a:avLst/>
          </a:prstGeom>
          <a:noFill/>
          <a:ln w="15875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Two states advance here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Wheel speed at the PowerTrain slot,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chassis afterwards at Body Frame.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5968" y="5577840"/>
            <a:ext cx="3520440" cy="969264"/>
          </a:xfrm>
          <a:prstGeom prst="rect">
            <a:avLst/>
          </a:prstGeom>
          <a:noFill/>
          <a:ln w="1587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Backward Euler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CarMaker's own solver; ours matches.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Single stage, so this runs once per step.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5577840"/>
            <a:ext cx="3566160" cy="969264"/>
          </a:xfrm>
          <a:prstGeom prst="rect">
            <a:avLst/>
          </a:prstGeom>
          <a:solidFill>
            <a:srgbClr val="F3DED8"/>
          </a:solidFill>
          <a:ln w="1905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33723"/>
                </a:solidFill>
                <a:latin typeface="Bahnschrift"/>
              </a:rPr>
              <a:t>Do not add another step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 Memory block or rate transition on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Trq_T2W -&gt; integrator -&gt; rotv costs damping.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04 / 06</a:t>
            </a:r>
            <a:r>
              <a:rPr sz="900">
                <a:solidFill>
                  <a:srgbClr val="78838F"/>
                </a:solidFill>
                <a:latin typeface="Consolas"/>
              </a:rPr>
              <a:t>   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What the tire model does with the wheel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The bench supplies one quantity: the wheel rotational speed. Follow it down through the tire model to the torque that comes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074920" cy="786384"/>
          </a:xfrm>
          <a:prstGeom prst="rect">
            <a:avLst/>
          </a:prstGeom>
          <a:solidFill>
            <a:srgbClr val="F2E4D3"/>
          </a:solidFill>
          <a:ln w="25400">
            <a:solidFill>
              <a:srgbClr val="A9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611A"/>
                </a:solidFill>
                <a:latin typeface="Bahnschrift"/>
              </a:rPr>
              <a:t>FROM THE BENCH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w[k-1]  -&gt;  Rim_rotv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wheel rotational speed, and nothing else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6248" y="1773936"/>
            <a:ext cx="5074920" cy="786384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FROM CARMAKER'S BODY MODEL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P_v0_W · Fz · camber · muRoad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contact-point velocity, load, friction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560320"/>
            <a:ext cx="0" cy="182880"/>
          </a:xfrm>
          <a:prstGeom prst="line">
            <a:avLst/>
          </a:prstGeom>
          <a:ln w="31750">
            <a:solidFill>
              <a:srgbClr val="A96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98280" y="2560320"/>
            <a:ext cx="0" cy="182880"/>
          </a:xfrm>
          <a:prstGeom prst="line">
            <a:avLst/>
          </a:prstGeom>
          <a:ln w="25400">
            <a:solidFill>
              <a:srgbClr val="1B6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2743200"/>
            <a:ext cx="5989320" cy="0"/>
          </a:xfrm>
          <a:prstGeom prst="line">
            <a:avLst/>
          </a:prstGeom>
          <a:ln w="254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9048" y="2743200"/>
            <a:ext cx="0" cy="182880"/>
          </a:xfrm>
          <a:prstGeom prst="line">
            <a:avLst/>
          </a:prstGeom>
          <a:ln w="31750">
            <a:solidFill>
              <a:srgbClr val="C7CE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66928" y="2980944"/>
            <a:ext cx="11064240" cy="822960"/>
          </a:xfrm>
          <a:prstGeom prst="rect">
            <a:avLst/>
          </a:prstGeom>
          <a:noFill/>
          <a:ln w="1905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111820"/>
                </a:solidFill>
                <a:latin typeface="Consolas"/>
              </a:rPr>
              <a:t>1   SLIP        </a:t>
            </a:r>
            <a:r>
              <a:rPr sz="1000" b="1">
                <a:solidFill>
                  <a:srgbClr val="A9611A"/>
                </a:solidFill>
                <a:latin typeface="Consolas"/>
              </a:rPr>
              <a:t>longitudinal   </a:t>
            </a:r>
            <a:r>
              <a:rPr sz="1000" b="0">
                <a:solidFill>
                  <a:srgbClr val="111820"/>
                </a:solidFill>
                <a:latin typeface="Consolas"/>
              </a:rPr>
              <a:t>s = ( w · rBelt_eff - vx ) / |…|      </a:t>
            </a:r>
            <a:r>
              <a:rPr sz="900" b="0">
                <a:solidFill>
                  <a:srgbClr val="A9611A"/>
                </a:solidFill>
                <a:latin typeface="Consolas"/>
              </a:rPr>
              <a:t>&lt;- the bench sets this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B646D"/>
                </a:solidFill>
                <a:latin typeface="Consolas"/>
              </a:rPr>
              <a:t>                lateral        </a:t>
            </a:r>
            <a:r>
              <a:rPr sz="1000" b="0">
                <a:solidFill>
                  <a:srgbClr val="111820"/>
                </a:solidFill>
                <a:latin typeface="Consolas"/>
              </a:rPr>
              <a:t>alpha = atan( vy / |vx| )             </a:t>
            </a:r>
            <a:r>
              <a:rPr sz="900" b="0">
                <a:solidFill>
                  <a:srgbClr val="1B646D"/>
                </a:solidFill>
                <a:latin typeface="Consolas"/>
              </a:rPr>
              <a:t>&lt;- steering and body yaw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78838F"/>
                </a:solidFill>
                <a:latin typeface="Consolas"/>
              </a:rPr>
              <a:t>Both come from one contact-point velocity vector, split into its two components.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3803904"/>
            <a:ext cx="0" cy="164592"/>
          </a:xfrm>
          <a:prstGeom prst="line">
            <a:avLst/>
          </a:prstGeom>
          <a:ln w="31750">
            <a:solidFill>
              <a:srgbClr val="C7CE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6928" y="4023360"/>
            <a:ext cx="11064240" cy="694944"/>
          </a:xfrm>
          <a:prstGeom prst="rect">
            <a:avLst/>
          </a:prstGeom>
          <a:solidFill>
            <a:srgbClr val="F2E4D3"/>
          </a:solidFill>
          <a:ln w="25400">
            <a:solidFill>
              <a:srgbClr val="A9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A9611A"/>
                </a:solidFill>
                <a:latin typeface="Consolas"/>
              </a:rPr>
              <a:t>2   RELAXATION  </a:t>
            </a:r>
            <a:r>
              <a:rPr sz="1000" b="0">
                <a:solidFill>
                  <a:srgbClr val="111820"/>
                </a:solidFill>
                <a:latin typeface="Consolas"/>
              </a:rPr>
              <a:t>tau = sigma / vx    sigma ~ 0.05 m      </a:t>
            </a:r>
            <a:r>
              <a:rPr sz="900" b="0">
                <a:solidFill>
                  <a:srgbClr val="A9611A"/>
                </a:solidFill>
                <a:latin typeface="Consolas"/>
              </a:rPr>
              <a:t>the tire's only ODE states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78838F"/>
                </a:solidFill>
                <a:latin typeface="Consolas"/>
              </a:rPr>
              <a:t>The carcass takes a rolling distance to build force, so slip is low-passed before it becomes force. Everything else here is algebraic.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4718304"/>
            <a:ext cx="0" cy="164592"/>
          </a:xfrm>
          <a:prstGeom prst="line">
            <a:avLst/>
          </a:prstGeom>
          <a:ln w="31750">
            <a:solidFill>
              <a:srgbClr val="C7CE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6928" y="4937760"/>
            <a:ext cx="11064240" cy="822960"/>
          </a:xfrm>
          <a:prstGeom prst="rect">
            <a:avLst/>
          </a:prstGeom>
          <a:solidFill>
            <a:srgbClr val="D9E9EA"/>
          </a:solidFill>
          <a:ln w="2540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1B646D"/>
                </a:solidFill>
                <a:latin typeface="Consolas"/>
              </a:rPr>
              <a:t>3   FORCES      </a:t>
            </a:r>
            <a:r>
              <a:rPr sz="1000" b="0">
                <a:solidFill>
                  <a:srgbClr val="111820"/>
                </a:solidFill>
                <a:latin typeface="Consolas"/>
              </a:rPr>
              <a:t>Fx = Gx(alpha) · Fx0(s)      </a:t>
            </a:r>
            <a:r>
              <a:rPr sz="900" b="0">
                <a:solidFill>
                  <a:srgbClr val="78838F"/>
                </a:solidFill>
                <a:latin typeface="Consolas"/>
              </a:rPr>
              <a:t>longitudinal force, reduced by cornering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11820"/>
                </a:solidFill>
                <a:latin typeface="Consolas"/>
              </a:rPr>
              <a:t>                Fy = Gy(s)     · Fy0(alpha)  </a:t>
            </a:r>
            <a:r>
              <a:rPr sz="900" b="0">
                <a:solidFill>
                  <a:srgbClr val="78838F"/>
                </a:solidFill>
                <a:latin typeface="Consolas"/>
              </a:rPr>
              <a:t>lateral force, reduced by driving or braking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78838F"/>
                </a:solidFill>
                <a:latin typeface="Consolas"/>
              </a:rPr>
              <a:t>Gx and Gy are the friction ellipse: one contact patch, one friction budget, so the two directions take from each other.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5760720"/>
            <a:ext cx="0" cy="164592"/>
          </a:xfrm>
          <a:prstGeom prst="line">
            <a:avLst/>
          </a:prstGeom>
          <a:ln w="31750">
            <a:solidFill>
              <a:srgbClr val="C7CE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6928" y="5980176"/>
            <a:ext cx="11064240" cy="402336"/>
          </a:xfrm>
          <a:prstGeom prst="rect">
            <a:avLst/>
          </a:prstGeom>
          <a:noFill/>
          <a:ln w="3175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50" b="1">
                <a:solidFill>
                  <a:srgbClr val="933723"/>
                </a:solidFill>
                <a:latin typeface="Consolas"/>
              </a:rPr>
              <a:t>4   SPIN-AXIS TORQUE   </a:t>
            </a:r>
            <a:r>
              <a:rPr sz="1000" b="0">
                <a:solidFill>
                  <a:srgbClr val="111820"/>
                </a:solidFill>
                <a:latin typeface="Consolas"/>
              </a:rPr>
              <a:t>Trq_T2W = -r · Fx  +  rolling resistance      </a:t>
            </a:r>
            <a:r>
              <a:rPr sz="900" b="1">
                <a:solidFill>
                  <a:srgbClr val="933723"/>
                </a:solidFill>
                <a:latin typeface="Consolas"/>
              </a:rPr>
              <a:t>-&gt; back to our integrator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05 / 06</a:t>
            </a:r>
            <a:r>
              <a:rPr sz="900">
                <a:solidFill>
                  <a:srgbClr val="78838F"/>
                </a:solidFill>
                <a:latin typeface="Consolas"/>
              </a:rPr>
              <a:t>    WHAT CAN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The wheel can oscillate against the tire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The wheel has inertia. The tire sits between it and the road and acts like a spring. That is an oscillator, and it exists on any real vehicle.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9222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WHAT OSCILLATES</a:t>
            </a:r>
          </a:p>
        </p:txBody>
      </p:sp>
      <p:sp>
        <p:nvSpPr>
          <p:cNvPr id="7" name="Donut 6"/>
          <p:cNvSpPr/>
          <p:nvPr/>
        </p:nvSpPr>
        <p:spPr>
          <a:xfrm>
            <a:off x="822960" y="2139696"/>
            <a:ext cx="1371600" cy="1371600"/>
          </a:xfrm>
          <a:prstGeom prst="donut">
            <a:avLst/>
          </a:prstGeom>
          <a:noFill/>
          <a:ln w="31750">
            <a:solidFill>
              <a:srgbClr val="11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249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Consolas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58444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9611A"/>
                </a:solidFill>
                <a:latin typeface="Consolas"/>
              </a:rPr>
              <a:t>wheel rocks back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9611A"/>
                </a:solidFill>
                <a:latin typeface="Consolas"/>
              </a:rPr>
              <a:t>and forth</a:t>
            </a:r>
          </a:p>
        </p:txBody>
      </p:sp>
      <p:sp>
        <p:nvSpPr>
          <p:cNvPr id="10" name="Lightning Bolt 9"/>
          <p:cNvSpPr/>
          <p:nvPr/>
        </p:nvSpPr>
        <p:spPr>
          <a:xfrm>
            <a:off x="2304288" y="2651760"/>
            <a:ext cx="1097280" cy="365760"/>
          </a:xfrm>
          <a:prstGeom prst="lightningBolt">
            <a:avLst/>
          </a:prstGeom>
          <a:noFill/>
          <a:ln w="2540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9424" y="234086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646D"/>
                </a:solidFill>
                <a:latin typeface="Consolas"/>
              </a:rPr>
              <a:t>tire carcass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307238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646D"/>
                </a:solidFill>
                <a:latin typeface="Consolas"/>
              </a:rPr>
              <a:t>acts as a spring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2432304"/>
            <a:ext cx="0" cy="841248"/>
          </a:xfrm>
          <a:prstGeom prst="line">
            <a:avLst/>
          </a:prstGeom>
          <a:ln w="38100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75888" y="27249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838F"/>
                </a:solidFill>
                <a:latin typeface="Consolas"/>
              </a:rPr>
              <a:t>road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68496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carcass has to flex before it can pass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force to the road. CarMaker gives that flex 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length: about 5 cm of rolling. A compliance 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 spring, and a spring against the wheel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inertia is an oscillator.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1737360"/>
            <a:ext cx="0" cy="338328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0" y="1792224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WHERE THE DAMPING COMES 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084832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As the tire rolls it continuously lays down fresh rubber and renews its grip.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That is what settles the oscillation.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A9611A"/>
                </a:solidFill>
                <a:latin typeface="Consolas"/>
              </a:rPr>
              <a:t>Faster rolling renews it faster, so damping grows with speed.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11A"/>
                </a:solidFill>
                <a:latin typeface="Consolas"/>
              </a:rPr>
              <a:t>At a standstill there is none at 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18688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WHAT THE INTEGRATION STEP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11296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tire is evaluated once per step, from the wheel speed as it stood 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start of it. That always removes a small, fixed amount of damping.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933723"/>
                </a:solidFill>
                <a:latin typeface="Consolas"/>
              </a:rPr>
              <a:t>At road speed there is plenty to spare. Down near walking pace there 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3723"/>
                </a:solidFill>
                <a:latin typeface="Consolas"/>
              </a:rPr>
              <a:t>not, and the trace can 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590288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8838F"/>
                </a:solidFill>
                <a:latin typeface="Bahnschrift"/>
              </a:rPr>
              <a:t>EXAMPLE — rotv OR Trq_T2W DURING A SLOW CRAWL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5010912"/>
            <a:ext cx="640080" cy="0"/>
          </a:xfrm>
          <a:prstGeom prst="line">
            <a:avLst/>
          </a:prstGeom>
          <a:ln w="25400">
            <a:solidFill>
              <a:srgbClr val="1B6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5040" y="4956048"/>
            <a:ext cx="182880" cy="54864"/>
          </a:xfrm>
          <a:prstGeom prst="line">
            <a:avLst/>
          </a:prstGeom>
          <a:ln w="25400">
            <a:solidFill>
              <a:srgbClr val="1B6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17920" y="4956048"/>
            <a:ext cx="182880" cy="91440"/>
          </a:xfrm>
          <a:prstGeom prst="line">
            <a:avLst/>
          </a:prstGeom>
          <a:ln w="25400">
            <a:solidFill>
              <a:srgbClr val="1B6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400800" y="5001768"/>
            <a:ext cx="182880" cy="45720"/>
          </a:xfrm>
          <a:prstGeom prst="line">
            <a:avLst/>
          </a:prstGeom>
          <a:ln w="25400">
            <a:solidFill>
              <a:srgbClr val="1B6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80" y="5001768"/>
            <a:ext cx="822960" cy="9144"/>
          </a:xfrm>
          <a:prstGeom prst="line">
            <a:avLst/>
          </a:prstGeom>
          <a:ln w="25400">
            <a:solidFill>
              <a:srgbClr val="1B6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0" y="49011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646D"/>
                </a:solidFill>
                <a:latin typeface="Consolas"/>
              </a:rPr>
              <a:t>healthy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03920" y="5010912"/>
            <a:ext cx="365760" cy="0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869680" y="4700016"/>
            <a:ext cx="109728" cy="310896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79408" y="4700016"/>
            <a:ext cx="109728" cy="585216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089136" y="4809744"/>
            <a:ext cx="109728" cy="475488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98864" y="4809744"/>
            <a:ext cx="109728" cy="365760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308592" y="4919472"/>
            <a:ext cx="109728" cy="256032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18320" y="4919472"/>
            <a:ext cx="109728" cy="164592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528048" y="4992624"/>
            <a:ext cx="109728" cy="91440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37776" y="4992624"/>
            <a:ext cx="603504" cy="18288"/>
          </a:xfrm>
          <a:prstGeom prst="line">
            <a:avLst/>
          </a:prstGeom>
          <a:ln w="25400">
            <a:solidFill>
              <a:srgbClr val="933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332720" y="49011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33723"/>
                </a:solidFill>
                <a:latin typeface="Consolas"/>
              </a:rPr>
              <a:t>ringing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3583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This oscillation is physical, not a modelling artefact. A real car has it: it is the same mechanism behind brake judder and ABS chatter.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614416"/>
            <a:ext cx="3520440" cy="950976"/>
          </a:xfrm>
          <a:prstGeom prst="rect">
            <a:avLst/>
          </a:prstGeom>
          <a:noFill/>
          <a:ln w="15875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Why we do not see it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Below 2 m/s CarMaker switches to its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stand-still tire model, and we put the dyno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in torque mode while stopping.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5968" y="5614416"/>
            <a:ext cx="3520440" cy="950976"/>
          </a:xfrm>
          <a:prstGeom prst="rect">
            <a:avLst/>
          </a:prstGeom>
          <a:noFill/>
          <a:ln w="15875">
            <a:solidFill>
              <a:srgbClr val="A9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611A"/>
                </a:solidFill>
                <a:latin typeface="Bahnschrift"/>
              </a:rPr>
              <a:t>What raises the risk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 longer sample time, a smaller wheel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inertia, a shorter relaxation length,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or a second delay in the loop.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5008" y="5614416"/>
            <a:ext cx="3566160" cy="950976"/>
          </a:xfrm>
          <a:prstGeom prst="rect">
            <a:avLst/>
          </a:prstGeom>
          <a:noFill/>
          <a:ln w="1587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The frequency, if you want it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Tens of hertz for a passenger wheel; we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estimate 40-50 Hz from a textbook slip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stiffness. Read Cs from the tire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06 / 06</a:t>
            </a:r>
            <a:r>
              <a:rPr sz="900">
                <a:solidFill>
                  <a:srgbClr val="78838F"/>
                </a:solidFill>
                <a:latin typeface="Consolas"/>
              </a:rPr>
              <a:t>  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What we can rely on, and what to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The loop is sound. Three reasons, then the two things it cannot report on itself, then the open items.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3520440" cy="1188720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There is only one wheel speed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Not one in the model and another on the bench.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Ours is the only one, so the two cannot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disagree.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737360"/>
            <a:ext cx="3520440" cy="1188720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It is IPG's own bypass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Backward Euler at 1 ms, wheel inertia read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from CarMaker, block for block the same as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UserPowerTrain.mdl.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5008" y="1737360"/>
            <a:ext cx="3520440" cy="1188720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Errors stay small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 2 N·m torque bias settles at about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0.24 m/s of speed offset. It does not grow: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slip stiffness and drag both push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127248"/>
            <a:ext cx="5440680" cy="1298448"/>
          </a:xfrm>
          <a:prstGeom prst="rect">
            <a:avLst/>
          </a:prstGeom>
          <a:solidFill>
            <a:srgbClr val="F3DED8"/>
          </a:solidFill>
          <a:ln w="1905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33723"/>
                </a:solidFill>
                <a:latin typeface="Bahnschrift"/>
              </a:rPr>
              <a:t>We cannot see the servo error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CarMaker is given the commanded speed, so it never learns whether the shaft reached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it. If the servo saturates we integrate a torque produced at a different speed, and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nothing warns us.  Log w_act - w_cmd and set an alarm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3127248"/>
            <a:ext cx="5440680" cy="1298448"/>
          </a:xfrm>
          <a:prstGeom prst="rect">
            <a:avLst/>
          </a:prstGeom>
          <a:solidFill>
            <a:srgbClr val="F3DED8"/>
          </a:solidFill>
          <a:ln w="1905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33723"/>
                </a:solidFill>
                <a:latin typeface="Bahnschrift"/>
              </a:rPr>
              <a:t>We cannot check Taxl against the model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CarMaker never reads the axle torque, so a measurement error shows up only as that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small speed offset, which looks like any other modelling choice. Torque calibration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has to be done on the bench.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26864"/>
            <a:ext cx="3520440" cy="1188720"/>
          </a:xfrm>
          <a:prstGeom prst="rect">
            <a:avLst/>
          </a:prstGeom>
          <a:noFill/>
          <a:ln w="1587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To check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Model.USE_MODE in the tire file. 13, 14 or 15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is expected. It decides both the lateral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coupling and the low-speed behaviour.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4626864"/>
            <a:ext cx="3520440" cy="1188720"/>
          </a:xfrm>
          <a:prstGeom prst="rect">
            <a:avLst/>
          </a:prstGeom>
          <a:noFill/>
          <a:ln w="1587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Recorded simplifications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All CarMaker brake torque zeroed, since real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braking is inside Taxl. Support torques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zeroed too: no squat, no mount reaction.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4626864"/>
            <a:ext cx="3520440" cy="1188720"/>
          </a:xfrm>
          <a:prstGeom prst="rect">
            <a:avLst/>
          </a:prstGeom>
          <a:noFill/>
          <a:ln w="1587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Full detail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doc/xil/AxleDynoCarMakerCoupling.md has the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step-indexed equations, the source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references and the open-item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