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FIXS  ·  XIL BENCH  ·  dev_v0.9.0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81328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111820"/>
                </a:solidFill>
                <a:latin typeface="Bahnschrift"/>
              </a:rPr>
              <a:t>Axle Dyno ↔ CarMaker Coupling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61488"/>
            <a:ext cx="8778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4"/>
                </a:solidFill>
                <a:latin typeface="Segoe UI"/>
              </a:rPr>
              <a:t>How the working implementation exchanges torque and speed with CarMaker across a single scalar per corner — where the one-step delay comes from, why the loop is stable, and what the architecture cannot tell you about itself.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03904"/>
            <a:ext cx="7498080" cy="969264"/>
          </a:xfrm>
          <a:prstGeom prst="rect">
            <a:avLst/>
          </a:prstGeom>
          <a:solidFill>
            <a:srgbClr val="F4F6F7"/>
          </a:solidFill>
          <a:ln w="12700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54864" lIns="14630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820"/>
                </a:solidFill>
                <a:latin typeface="Consolas"/>
              </a:rPr>
              <a:t>w[k] = w[k-1] + (K*Ts / I) * ( Taxl[k] + Trq_T2W[k] )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111820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4A5764"/>
                </a:solidFill>
                <a:latin typeface="Consolas"/>
              </a:rPr>
              <a:t>K = 1     Ts = 0.001 s     I = Wheel.&lt;i&gt;.I  (CarMaker parameter)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111496"/>
            <a:ext cx="137160" cy="137160"/>
          </a:xfrm>
          <a:prstGeom prst="rect">
            <a:avLst/>
          </a:prstGeom>
          <a:solidFill>
            <a:srgbClr val="A96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508406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hardware · measured · physical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385816"/>
            <a:ext cx="137160" cy="137160"/>
          </a:xfrm>
          <a:prstGeom prst="rect">
            <a:avLst/>
          </a:prstGeom>
          <a:solidFill>
            <a:srgbClr val="1B6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535838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CarMaker · computed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660136"/>
            <a:ext cx="137160" cy="13716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563270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764"/>
                </a:solidFill>
                <a:latin typeface="Consolas"/>
              </a:rPr>
              <a:t>our Simulink bypass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02 / 06</a:t>
            </a:r>
            <a:r>
              <a:rPr sz="900">
                <a:solidFill>
                  <a:srgbClr val="78838F"/>
                </a:solidFill>
                <a:latin typeface="Consolas"/>
              </a:rPr>
              <a:t>   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What each part owns, and what crosses between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Three parts, four signals, one equation. The wheel speed is computed in Simulink and sent to both sides. Nothing else crosses.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47088"/>
            <a:ext cx="2880360" cy="1554480"/>
          </a:xfrm>
          <a:prstGeom prst="rect">
            <a:avLst/>
          </a:prstGeom>
          <a:solidFill>
            <a:srgbClr val="F2E4D3"/>
          </a:solidFill>
          <a:ln w="1905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611A"/>
                </a:solidFill>
                <a:latin typeface="Bahnschrift"/>
              </a:rPr>
              <a:t>HARDWARE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real powertrain on the dyno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dyno speed controller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makes the shaft follow 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5968" y="1700784"/>
            <a:ext cx="3566160" cy="1847088"/>
          </a:xfrm>
          <a:prstGeom prst="rect">
            <a:avLst/>
          </a:prstGeom>
          <a:noFill/>
          <a:ln w="31750">
            <a:solidFill>
              <a:srgbClr val="11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SIMULINK — OUR BLOCK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w[k] = w[k-1]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       + (Ts / I) * ( Taxl[k]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       + Trq_T2W[k] )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Ts = 0.001 s, same step as CarMaker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  = Wheel.&lt;i&gt;.I, read from CarMaker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0808" y="1847088"/>
            <a:ext cx="2880360" cy="155448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CARMAKER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tire, body, suspension, road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/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Uses w to find tire slip,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then returns the tire torque.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47288" y="2212848"/>
            <a:ext cx="813816" cy="0"/>
          </a:xfrm>
          <a:prstGeom prst="line">
            <a:avLst/>
          </a:prstGeom>
          <a:ln w="31750">
            <a:solidFill>
              <a:srgbClr val="A961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56432" y="1956816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A9611A"/>
                </a:solidFill>
                <a:latin typeface="Consolas"/>
              </a:rPr>
              <a:t>Taxl[k]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267712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[Nm]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3447288" y="3127248"/>
            <a:ext cx="813816" cy="0"/>
          </a:xfrm>
          <a:prstGeom prst="line">
            <a:avLst/>
          </a:prstGeom>
          <a:ln w="31750">
            <a:solidFill>
              <a:srgbClr val="A9611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56432" y="2871216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A9611A"/>
                </a:solidFill>
                <a:latin typeface="Consolas"/>
              </a:rPr>
              <a:t>w[k]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3182112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[rad/s]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82128" y="2212848"/>
            <a:ext cx="813816" cy="0"/>
          </a:xfrm>
          <a:prstGeom prst="line">
            <a:avLst/>
          </a:prstGeom>
          <a:ln w="31750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91272" y="1956816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646D"/>
                </a:solidFill>
                <a:latin typeface="Consolas"/>
              </a:rPr>
              <a:t>w[k]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2" y="2267712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[rad/s]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882128" y="3127248"/>
            <a:ext cx="813816" cy="0"/>
          </a:xfrm>
          <a:prstGeom prst="line">
            <a:avLst/>
          </a:prstGeom>
          <a:ln w="31750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891272" y="2871216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646D"/>
                </a:solidFill>
                <a:latin typeface="Consolas"/>
              </a:rPr>
              <a:t>Trq_T2W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3182112"/>
            <a:ext cx="804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8838F"/>
                </a:solidFill>
                <a:latin typeface="Consolas"/>
              </a:rPr>
              <a:t>[Nm]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3931920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4078224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9611A"/>
                </a:solidFill>
                <a:latin typeface="Consolas"/>
              </a:rPr>
              <a:t>The same w[k] goes to both sides.</a:t>
            </a:r>
            <a:r>
              <a:rPr sz="1000">
                <a:solidFill>
                  <a:srgbClr val="4A5764"/>
                </a:solidFill>
                <a:latin typeface="Consolas"/>
              </a:rPr>
              <a:t>   CarMaker is given the computed speed, not the measured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352544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11820"/>
                </a:solidFill>
                <a:latin typeface="Consolas"/>
              </a:rPr>
              <a:t>The real shaft speed stays in the dyno controller.</a:t>
            </a:r>
            <a:r>
              <a:rPr sz="1000">
                <a:solidFill>
                  <a:srgbClr val="4A5764"/>
                </a:solidFill>
                <a:latin typeface="Consolas"/>
              </a:rPr>
              <a:t>   If the servo lags, CarMaker never finds out.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626864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B646D"/>
                </a:solidFill>
                <a:latin typeface="Consolas"/>
              </a:rPr>
              <a:t>CarMaker has no wheel speed of its own.</a:t>
            </a:r>
            <a:r>
              <a:rPr sz="1000">
                <a:solidFill>
                  <a:srgbClr val="4A5764"/>
                </a:solidFill>
                <a:latin typeface="Consolas"/>
              </a:rPr>
              <a:t>   Its integrator went with the PowerTrain module, so ours is the only 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901184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11820"/>
                </a:solidFill>
                <a:latin typeface="Consolas"/>
              </a:rPr>
              <a:t>CarMaker never uses Taxl either.</a:t>
            </a:r>
            <a:r>
              <a:rPr sz="1000">
                <a:solidFill>
                  <a:srgbClr val="4A5764"/>
                </a:solidFill>
                <a:latin typeface="Consolas"/>
              </a:rPr>
              <a:t>   We send it, but with the support torques zeroed nothing reads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32180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Read it as a sentence: add the measured axle torque to the tire torque from CarMaker, divide by the wheel inertia, integrate.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541264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CarMaker does this same integration natively in its DriveLine (RefMan Fig. 16.83). We rebuilt that block with the same inertia parameter,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760720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matching IPG's own UserPowerTrain.mdl. All CarMaker brake torque is zeroed here, because real braking is already inside Taxl.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03 / 06</a:t>
            </a:r>
            <a:r>
              <a:rPr sz="900">
                <a:solidFill>
                  <a:srgbClr val="78838F"/>
                </a:solidFill>
                <a:latin typeface="Consolas"/>
              </a:rPr>
              <a:t>    WHEN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One integration step, in a fixed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Everything from here on answers one question: how is Trq_T2W[k] produced. Start with when CarMaker computes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1883664"/>
            <a:ext cx="10332720" cy="0"/>
          </a:xfrm>
          <a:prstGeom prst="line">
            <a:avLst/>
          </a:prstGeom>
          <a:ln w="190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5577840"/>
            <a:ext cx="10332720" cy="0"/>
          </a:xfrm>
          <a:prstGeom prst="line">
            <a:avLst/>
          </a:prstGeom>
          <a:ln w="190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298448" y="1883664"/>
            <a:ext cx="0" cy="3694176"/>
          </a:xfrm>
          <a:prstGeom prst="line">
            <a:avLst/>
          </a:prstGeom>
          <a:ln w="31750">
            <a:solidFill>
              <a:srgbClr val="A961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1764792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t = k-1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62763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wheel speed = w[k-1]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58968"/>
            <a:ext cx="71323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t = 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5321808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9611A"/>
                </a:solidFill>
                <a:latin typeface="Consolas"/>
              </a:rPr>
              <a:t>wheel speed = w[k]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383280"/>
            <a:ext cx="65836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9611A"/>
                </a:solidFill>
                <a:latin typeface="Consolas"/>
              </a:rPr>
              <a:t>ONE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9611A"/>
                </a:solidFill>
                <a:latin typeface="Consolas"/>
              </a:rPr>
              <a:t>STEP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9611A"/>
                </a:solidFill>
                <a:latin typeface="Consolas"/>
              </a:rPr>
              <a:t>1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01168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820"/>
                </a:solidFill>
                <a:latin typeface="Consolas"/>
              </a:rPr>
              <a:t>Vehicle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22494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Steering / Suspension K&amp;C / Aerodynamics / Suspension forces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2560320"/>
            <a:ext cx="4846320" cy="512064"/>
          </a:xfrm>
          <a:prstGeom prst="rect">
            <a:avLst/>
          </a:prstGeom>
          <a:solidFill>
            <a:srgbClr val="D9E9EA"/>
          </a:solidFill>
          <a:ln w="2540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646D"/>
                </a:solidFill>
                <a:latin typeface="Consolas"/>
              </a:rPr>
              <a:t>Tire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uses w[k-1], emits Trq_T2W[k]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182112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820"/>
                </a:solidFill>
                <a:latin typeface="Consolas"/>
              </a:rPr>
              <a:t>Brake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7360" y="3474720"/>
            <a:ext cx="4846320" cy="786384"/>
          </a:xfrm>
          <a:prstGeom prst="rect">
            <a:avLst/>
          </a:prstGeom>
          <a:solidFill>
            <a:srgbClr val="F2E4D3"/>
          </a:solidFill>
          <a:ln w="3175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100" b="1">
                <a:solidFill>
                  <a:srgbClr val="111820"/>
                </a:solidFill>
                <a:latin typeface="Consolas"/>
              </a:rPr>
              <a:t>PowerTrain</a:t>
            </a:r>
            <a:r>
              <a:rPr sz="900">
                <a:solidFill>
                  <a:srgbClr val="A9611A"/>
                </a:solidFill>
                <a:latin typeface="Consolas"/>
              </a:rPr>
              <a:t>     our block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1">
                <a:solidFill>
                  <a:srgbClr val="111820"/>
                </a:solidFill>
                <a:latin typeface="Consolas"/>
              </a:rPr>
              <a:t>w[k] = w[k-1] + (Ts / I) * ( Taxl[k] + Trq_T2W[k] 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37360" y="4407408"/>
            <a:ext cx="4846320" cy="512064"/>
          </a:xfrm>
          <a:prstGeom prst="rect">
            <a:avLst/>
          </a:prstGeom>
          <a:solidFill>
            <a:srgbClr val="D9E9EA"/>
          </a:solidFill>
          <a:ln w="2540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646D"/>
                </a:solidFill>
                <a:latin typeface="Consolas"/>
              </a:rPr>
              <a:t>Body Frame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chassis, suspension and vehicle speed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60520" y="3072384"/>
            <a:ext cx="0" cy="73152"/>
          </a:xfrm>
          <a:prstGeom prst="line">
            <a:avLst/>
          </a:prstGeom>
          <a:ln w="25400">
            <a:solidFill>
              <a:srgbClr val="C7CED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160520" y="3401568"/>
            <a:ext cx="0" cy="36576"/>
          </a:xfrm>
          <a:prstGeom prst="line">
            <a:avLst/>
          </a:prstGeom>
          <a:ln w="25400">
            <a:solidFill>
              <a:srgbClr val="C7CED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160520" y="4261104"/>
            <a:ext cx="0" cy="109728"/>
          </a:xfrm>
          <a:prstGeom prst="line">
            <a:avLst/>
          </a:prstGeom>
          <a:ln w="25400">
            <a:solidFill>
              <a:srgbClr val="C7CED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583680" y="3867912"/>
            <a:ext cx="384048" cy="0"/>
          </a:xfrm>
          <a:prstGeom prst="line">
            <a:avLst/>
          </a:prstGeom>
          <a:ln w="31750">
            <a:solidFill>
              <a:srgbClr val="A961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022592" y="3602736"/>
            <a:ext cx="4187952" cy="530352"/>
          </a:xfrm>
          <a:prstGeom prst="rect">
            <a:avLst/>
          </a:prstGeom>
          <a:noFill/>
          <a:ln w="2540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A9611A"/>
                </a:solidFill>
                <a:latin typeface="Consolas"/>
              </a:rPr>
              <a:t>THE WHEEL SPEED ADVANCES HERE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0" y="4663440"/>
            <a:ext cx="384048" cy="0"/>
          </a:xfrm>
          <a:prstGeom prst="line">
            <a:avLst/>
          </a:prstGeom>
          <a:ln w="25400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022592" y="4443984"/>
            <a:ext cx="4187952" cy="438912"/>
          </a:xfrm>
          <a:prstGeom prst="rect">
            <a:avLst/>
          </a:prstGeom>
          <a:noFill/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646D"/>
                </a:solidFill>
                <a:latin typeface="Consolas"/>
              </a:rPr>
              <a:t>the chassis states advance 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797296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A9611A"/>
                </a:solidFill>
                <a:latin typeface="Consolas"/>
              </a:rPr>
              <a:t>The whole sequence is one step of the solver. The wheel speed keeps the value w[k-1] right up to the PowerTrain box, so the tire, which runs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998464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earlier, necessarily uses w[k-1]. That is what advancing an ODE state means, not a delay we added: CarMaker's own powertrain does the same.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217920"/>
            <a:ext cx="5440680" cy="475488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Backward Euler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CarMaker's own solver; ours matches. Single stage, one pass.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6217920"/>
            <a:ext cx="5440680" cy="475488"/>
          </a:xfrm>
          <a:prstGeom prst="rect">
            <a:avLst/>
          </a:prstGeom>
          <a:solidFill>
            <a:srgbClr val="F3DED8"/>
          </a:solidFill>
          <a:ln w="190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Do not add a second step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 Memory block or rate transition in the loop costs damping.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04 / 06</a:t>
            </a:r>
            <a:r>
              <a:rPr sz="900">
                <a:solidFill>
                  <a:srgbClr val="78838F"/>
                </a:solidFill>
                <a:latin typeface="Consolas"/>
              </a:rPr>
              <a:t>   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What the tire model does with the wheel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Slip is the gap between our wheel speed and CarMaker's vehicle speed. Everything the tire produces follows from that one comparison.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37360"/>
            <a:ext cx="5074920" cy="676656"/>
          </a:xfrm>
          <a:prstGeom prst="rect">
            <a:avLst/>
          </a:prstGeom>
          <a:solidFill>
            <a:srgbClr val="F2E4D3"/>
          </a:solidFill>
          <a:ln w="2540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611A"/>
                </a:solidFill>
                <a:latin typeface="Bahnschrift"/>
              </a:rPr>
              <a:t>OUR WHEEL SPEED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w[k-1] -&gt; Rim_rotv, from the bench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556248" y="1737360"/>
            <a:ext cx="5074920" cy="676656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CARMAKER'S VEHICLE SPEED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vx at the contact point, plus Fz and friction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08960" y="2414016"/>
            <a:ext cx="0" cy="182880"/>
          </a:xfrm>
          <a:prstGeom prst="line">
            <a:avLst/>
          </a:prstGeom>
          <a:ln w="31750">
            <a:solidFill>
              <a:srgbClr val="A96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098280" y="2414016"/>
            <a:ext cx="0" cy="182880"/>
          </a:xfrm>
          <a:prstGeom prst="line">
            <a:avLst/>
          </a:prstGeom>
          <a:ln w="25400">
            <a:solidFill>
              <a:srgbClr val="1B64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108960" y="2596896"/>
            <a:ext cx="5989320" cy="0"/>
          </a:xfrm>
          <a:prstGeom prst="line">
            <a:avLst/>
          </a:prstGeom>
          <a:ln w="254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9048" y="2596896"/>
            <a:ext cx="0" cy="164592"/>
          </a:xfrm>
          <a:prstGeom prst="line">
            <a:avLst/>
          </a:prstGeom>
          <a:ln w="31750">
            <a:solidFill>
              <a:srgbClr val="C7CED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188720" y="2816352"/>
            <a:ext cx="9820656" cy="768096"/>
          </a:xfrm>
          <a:prstGeom prst="rect">
            <a:avLst/>
          </a:prstGeom>
          <a:noFill/>
          <a:ln w="19050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050" b="1">
                <a:solidFill>
                  <a:srgbClr val="111820"/>
                </a:solidFill>
                <a:latin typeface="Consolas"/>
              </a:rPr>
              <a:t>1   SLIP   </a:t>
            </a:r>
            <a:r>
              <a:rPr sz="1000" b="1">
                <a:solidFill>
                  <a:srgbClr val="A9611A"/>
                </a:solidFill>
                <a:latin typeface="Consolas"/>
              </a:rPr>
              <a:t>longitudinal   </a:t>
            </a:r>
            <a:r>
              <a:rPr sz="1000" b="0">
                <a:solidFill>
                  <a:srgbClr val="111820"/>
                </a:solidFill>
                <a:latin typeface="Consolas"/>
              </a:rPr>
              <a:t>s = ( w · rBelt_eff  -  vx ) / |…|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B646D"/>
                </a:solidFill>
                <a:latin typeface="Consolas"/>
              </a:rPr>
              <a:t>           lateral        </a:t>
            </a:r>
            <a:r>
              <a:rPr sz="1000" b="0">
                <a:solidFill>
                  <a:srgbClr val="111820"/>
                </a:solidFill>
                <a:latin typeface="Consolas"/>
              </a:rPr>
              <a:t>alpha = atan( vy / |vx| 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how much faster the tread is moving than the road under it, and at what angle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9048" y="3584448"/>
            <a:ext cx="0" cy="146304"/>
          </a:xfrm>
          <a:prstGeom prst="line">
            <a:avLst/>
          </a:prstGeom>
          <a:ln w="31750">
            <a:solidFill>
              <a:srgbClr val="C7CED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188720" y="3785616"/>
            <a:ext cx="9820656" cy="512064"/>
          </a:xfrm>
          <a:prstGeom prst="rect">
            <a:avLst/>
          </a:prstGeom>
          <a:solidFill>
            <a:srgbClr val="F2E4D3"/>
          </a:solidFill>
          <a:ln w="25400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050" b="1">
                <a:solidFill>
                  <a:srgbClr val="A9611A"/>
                </a:solidFill>
                <a:latin typeface="Consolas"/>
              </a:rPr>
              <a:t>2   RELAXATION   </a:t>
            </a:r>
            <a:r>
              <a:rPr sz="950" b="0">
                <a:solidFill>
                  <a:srgbClr val="111820"/>
                </a:solidFill>
                <a:latin typeface="Consolas"/>
              </a:rPr>
              <a:t>the carcass takes about 5 cm of rolling to build force, so slip is low-passed  </a:t>
            </a:r>
            <a:r>
              <a:rPr sz="900" b="0">
                <a:solidFill>
                  <a:srgbClr val="A9611A"/>
                </a:solidFill>
                <a:latin typeface="Consolas"/>
              </a:rPr>
              <a:t>(the tire's only states)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9048" y="4297680"/>
            <a:ext cx="0" cy="146304"/>
          </a:xfrm>
          <a:prstGeom prst="line">
            <a:avLst/>
          </a:prstGeom>
          <a:ln w="31750">
            <a:solidFill>
              <a:srgbClr val="C7CED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188720" y="4498848"/>
            <a:ext cx="9820656" cy="768096"/>
          </a:xfrm>
          <a:prstGeom prst="rect">
            <a:avLst/>
          </a:prstGeom>
          <a:solidFill>
            <a:srgbClr val="D9E9EA"/>
          </a:solidFill>
          <a:ln w="2540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050" b="1">
                <a:solidFill>
                  <a:srgbClr val="1B646D"/>
                </a:solidFill>
                <a:latin typeface="Consolas"/>
              </a:rPr>
              <a:t>3   FORCES   </a:t>
            </a:r>
            <a:r>
              <a:rPr sz="1000" b="0">
                <a:solidFill>
                  <a:srgbClr val="111820"/>
                </a:solidFill>
                <a:latin typeface="Consolas"/>
              </a:rPr>
              <a:t>Fx = Gx(alpha) · Fx0(s)      </a:t>
            </a:r>
            <a:r>
              <a:rPr sz="900" b="0">
                <a:solidFill>
                  <a:srgbClr val="78838F"/>
                </a:solidFill>
                <a:latin typeface="Consolas"/>
              </a:rPr>
              <a:t>longitudinal, reduced by cornering</a:t>
            </a:r>
          </a:p>
          <a:p>
            <a:pPr>
              <a:spcBef>
                <a:spcPts val="200"/>
              </a:spcBef>
            </a:pPr>
            <a:r>
              <a:rPr sz="1000" b="0">
                <a:solidFill>
                  <a:srgbClr val="111820"/>
                </a:solidFill>
                <a:latin typeface="Consolas"/>
              </a:rPr>
              <a:t>             Fy = Gy(s)     · Fy0(alpha)  </a:t>
            </a:r>
            <a:r>
              <a:rPr sz="900" b="0">
                <a:solidFill>
                  <a:srgbClr val="78838F"/>
                </a:solidFill>
                <a:latin typeface="Consolas"/>
              </a:rPr>
              <a:t>lateral, reduced by driving or braking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one contact patch, one friction budget, so the two directions take from each other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91840" y="5266944"/>
            <a:ext cx="0" cy="256032"/>
          </a:xfrm>
          <a:prstGeom prst="line">
            <a:avLst/>
          </a:prstGeom>
          <a:ln w="31750">
            <a:solidFill>
              <a:srgbClr val="93372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961120" y="5266944"/>
            <a:ext cx="0" cy="256032"/>
          </a:xfrm>
          <a:prstGeom prst="line">
            <a:avLst/>
          </a:prstGeom>
          <a:ln w="31750">
            <a:solidFill>
              <a:srgbClr val="1B646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188720" y="5577840"/>
            <a:ext cx="4206240" cy="566928"/>
          </a:xfrm>
          <a:prstGeom prst="rect">
            <a:avLst/>
          </a:prstGeom>
          <a:noFill/>
          <a:ln w="317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33723"/>
                </a:solidFill>
                <a:latin typeface="Consolas"/>
              </a:rPr>
              <a:t>4a   TO US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Trq_T2W = -r · Fx  -&gt;  our integrator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03136" y="5577840"/>
            <a:ext cx="4206240" cy="566928"/>
          </a:xfrm>
          <a:prstGeom prst="rect">
            <a:avLst/>
          </a:prstGeom>
          <a:noFill/>
          <a:ln w="317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646D"/>
                </a:solidFill>
                <a:latin typeface="Consolas"/>
              </a:rPr>
              <a:t>4b   TO THE VEHICLE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000" b="0">
                <a:solidFill>
                  <a:srgbClr val="111820"/>
                </a:solidFill>
                <a:latin typeface="Consolas"/>
              </a:rPr>
              <a:t>Fx pushes the body  -&gt;  CarMaker sets vx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009376" y="5861304"/>
            <a:ext cx="374904" cy="0"/>
          </a:xfrm>
          <a:prstGeom prst="line">
            <a:avLst/>
          </a:prstGeom>
          <a:ln w="25400">
            <a:solidFill>
              <a:srgbClr val="1B646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1384280" y="3200400"/>
            <a:ext cx="0" cy="2660904"/>
          </a:xfrm>
          <a:prstGeom prst="line">
            <a:avLst/>
          </a:prstGeom>
          <a:ln w="25400">
            <a:solidFill>
              <a:srgbClr val="1B646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11045952" y="3200400"/>
            <a:ext cx="338328" cy="0"/>
          </a:xfrm>
          <a:prstGeom prst="line">
            <a:avLst/>
          </a:prstGeom>
          <a:ln w="25400">
            <a:solidFill>
              <a:srgbClr val="1B646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1448288" y="4224528"/>
            <a:ext cx="7132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646D"/>
                </a:solidFill>
                <a:latin typeface="Consolas"/>
              </a:rPr>
              <a:t>vx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646D"/>
                </a:solidFill>
                <a:latin typeface="Consolas"/>
              </a:rPr>
              <a:t>next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646D"/>
                </a:solidFill>
                <a:latin typeface="Consolas"/>
              </a:rPr>
              <a:t>step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A9611A"/>
                </a:solidFill>
                <a:latin typeface="Consolas"/>
              </a:rPr>
              <a:t>The bench sets the wheel speed. CarMaker sets the vehicle speed, by integrating these same tire forces on the vehicle mass at Body Frame.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838F"/>
                </a:solidFill>
                <a:latin typeface="Consolas"/>
              </a:rPr>
              <a:t>Neither one is imposed on the other. They meet only in the slip calculation, which is the whole coupling.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05 / 06</a:t>
            </a:r>
            <a:r>
              <a:rPr sz="900">
                <a:solidFill>
                  <a:srgbClr val="78838F"/>
                </a:solidFill>
                <a:latin typeface="Consolas"/>
              </a:rPr>
              <a:t>    WHAT CAN GO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The computed wheel speed can start to oscillate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This is the one failure mode worth knowing. It shows up in the logs, and the dyno is then commanded to chase the wobble.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73936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33723"/>
                </a:solidFill>
                <a:latin typeface="Bahnschrift"/>
              </a:rPr>
              <a:t>1  WHAT YOU WOULD 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66544"/>
            <a:ext cx="3749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rotv and Trq_T2W wobbling at tens of hertz,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on top of the speed the vehicle should be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holding. Because rotv is also the dyno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command, the real shaft is told to chase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07792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838F"/>
                </a:solidFill>
                <a:latin typeface="Consolas"/>
              </a:rPr>
              <a:t>rotv during a slow crawl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401568"/>
            <a:ext cx="731520" cy="0"/>
          </a:xfrm>
          <a:prstGeom prst="line">
            <a:avLst/>
          </a:prstGeom>
          <a:ln w="25400">
            <a:solidFill>
              <a:srgbClr val="1B64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371600" y="3346704"/>
            <a:ext cx="182880" cy="54864"/>
          </a:xfrm>
          <a:prstGeom prst="line">
            <a:avLst/>
          </a:prstGeom>
          <a:ln w="25400">
            <a:solidFill>
              <a:srgbClr val="1B64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554480" y="3346704"/>
            <a:ext cx="182880" cy="91440"/>
          </a:xfrm>
          <a:prstGeom prst="line">
            <a:avLst/>
          </a:prstGeom>
          <a:ln w="25400">
            <a:solidFill>
              <a:srgbClr val="1B64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737360" y="3383280"/>
            <a:ext cx="182880" cy="54864"/>
          </a:xfrm>
          <a:prstGeom prst="line">
            <a:avLst/>
          </a:prstGeom>
          <a:ln w="25400">
            <a:solidFill>
              <a:srgbClr val="1B64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920240" y="3383280"/>
            <a:ext cx="731520" cy="18288"/>
          </a:xfrm>
          <a:prstGeom prst="line">
            <a:avLst/>
          </a:prstGeom>
          <a:ln w="25400">
            <a:solidFill>
              <a:srgbClr val="1B64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743200" y="329184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646D"/>
                </a:solidFill>
                <a:latin typeface="Consolas"/>
              </a:rPr>
              <a:t>healthy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3968496"/>
            <a:ext cx="548640" cy="0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88720" y="3675888"/>
            <a:ext cx="109728" cy="292608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98448" y="3675888"/>
            <a:ext cx="109728" cy="566928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408176" y="3785616"/>
            <a:ext cx="109728" cy="457200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517904" y="3785616"/>
            <a:ext cx="109728" cy="365760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627632" y="3895344"/>
            <a:ext cx="109728" cy="256032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737360" y="3895344"/>
            <a:ext cx="109728" cy="164592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847088" y="3968496"/>
            <a:ext cx="109728" cy="91440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956816" y="3968496"/>
            <a:ext cx="694944" cy="0"/>
          </a:xfrm>
          <a:prstGeom prst="line">
            <a:avLst/>
          </a:prstGeom>
          <a:ln w="25400">
            <a:solidFill>
              <a:srgbClr val="9337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743200" y="3858768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33723"/>
                </a:solidFill>
                <a:latin typeface="Consolas"/>
              </a:rPr>
              <a:t>oscillating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0" y="1737360"/>
            <a:ext cx="0" cy="347472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54880" y="1773936"/>
            <a:ext cx="6858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820"/>
                </a:solidFill>
                <a:latin typeface="Bahnschrift"/>
              </a:rPr>
              <a:t>2  WHY IT CAN HAPPEN AT 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066544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wheel has rotational inertia. The tire carcass has to flex before it can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pass force to the road, so it behaves as a spring between the wheel and the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ground. An inertia on a spring can ring. Every real car has this mode; it is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the same one behind brake judder and ABS chatter.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163824"/>
            <a:ext cx="6858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820"/>
                </a:solidFill>
                <a:latin typeface="Bahnschrift"/>
              </a:rPr>
              <a:t>3  WHY IT ONLY BITES AT LOW SPEED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3456432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Rolling is what damps it: the tire keeps laying down fresh rubber and renewing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its grip. Fast rolling renews it quickly and the ringing dies out. At walking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pace there is little damping left, and at a standstill none.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933723"/>
                </a:solidFill>
                <a:latin typeface="Consolas"/>
              </a:rPr>
              <a:t>Evaluating the tire once per step removes a further fixed amount, at any speed.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4553712"/>
            <a:ext cx="6858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B646D"/>
                </a:solidFill>
                <a:latin typeface="Bahnschrift"/>
              </a:rPr>
              <a:t>4  WHY WE DO NOT SEE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84632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Below 2 m/s CarMaker switches to its stand-still tire model, and we put the dyno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into torque mode with zero tire torque while stopping. The slow region is never run.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541264"/>
            <a:ext cx="3520440" cy="1005840"/>
          </a:xfrm>
          <a:prstGeom prst="rect">
            <a:avLst/>
          </a:prstGeom>
          <a:noFill/>
          <a:ln w="190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How to check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Look at rotv and Trq_T2W through a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slow crawl. Clean trace, no issue.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Tens-of-hertz wobble, come back to this.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15968" y="5541264"/>
            <a:ext cx="3520440" cy="1005840"/>
          </a:xfrm>
          <a:prstGeom prst="rect">
            <a:avLst/>
          </a:prstGeom>
          <a:noFill/>
          <a:ln w="15875">
            <a:solidFill>
              <a:srgbClr val="A961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611A"/>
                </a:solidFill>
                <a:latin typeface="Bahnschrift"/>
              </a:rPr>
              <a:t>What would raise the risk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 longer sample time, a smaller wheel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inertia, a shorter relaxation length,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or a second delay added to the loop.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65008" y="5541264"/>
            <a:ext cx="3566160" cy="1005840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The frequency, if you want it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Set by wheel inertia against carcass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stiffness; tens of hertz for a car wheel.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Our 40-50 Hz is a textbook estimate.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75488"/>
            <a:ext cx="11064240" cy="0"/>
          </a:xfrm>
          <a:prstGeom prst="line">
            <a:avLst/>
          </a:prstGeom>
          <a:ln w="12700">
            <a:solidFill>
              <a:srgbClr val="C7C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66928" y="21945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A9611A"/>
                </a:solidFill>
                <a:latin typeface="Consolas"/>
              </a:rPr>
              <a:t>06 / 06</a:t>
            </a:r>
            <a:r>
              <a:rPr sz="900">
                <a:solidFill>
                  <a:srgbClr val="78838F"/>
                </a:solidFill>
                <a:latin typeface="Consolas"/>
              </a:rPr>
              <a:t>   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642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11820"/>
                </a:solidFill>
                <a:latin typeface="Bahnschrift"/>
              </a:rPr>
              <a:t>What we can rely on, and what to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5764"/>
                </a:solidFill>
                <a:latin typeface="Segoe UI"/>
              </a:rPr>
              <a:t>The loop is sound. Three reasons, then the two things it cannot report on itself, then the open items.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37360"/>
            <a:ext cx="3520440" cy="118872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There is only one wheel speed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Not one in the model and another on the bench.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Ours is the only one, so the two cannot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disagree.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5968" y="1737360"/>
            <a:ext cx="3520440" cy="118872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It is IPG's own bypass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Backward Euler at 1 ms, wheel inertia read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from CarMaker, block for block the same as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UserPowerTrain.mdl.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65008" y="1737360"/>
            <a:ext cx="3520440" cy="1188720"/>
          </a:xfrm>
          <a:prstGeom prst="rect">
            <a:avLst/>
          </a:prstGeom>
          <a:solidFill>
            <a:srgbClr val="D9E9EA"/>
          </a:solidFill>
          <a:ln w="19050">
            <a:solidFill>
              <a:srgbClr val="1B64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646D"/>
                </a:solidFill>
                <a:latin typeface="Bahnschrift"/>
              </a:rPr>
              <a:t>Errors stay small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 2 N·m torque bias settles at about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0.24 m/s of speed offset. It does not grow: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slip stiffness and drag both push back.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127248"/>
            <a:ext cx="5440680" cy="1298448"/>
          </a:xfrm>
          <a:prstGeom prst="rect">
            <a:avLst/>
          </a:prstGeom>
          <a:solidFill>
            <a:srgbClr val="F3DED8"/>
          </a:solidFill>
          <a:ln w="190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We cannot see the servo error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CarMaker is given the commanded speed, so it never learns whether the shaft reached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it. If the servo saturates we integrate a torque produced at a different speed, and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nothing warns us.  Log w_act - w_cmd and set an alarm on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6208" y="3127248"/>
            <a:ext cx="5440680" cy="1298448"/>
          </a:xfrm>
          <a:prstGeom prst="rect">
            <a:avLst/>
          </a:prstGeom>
          <a:solidFill>
            <a:srgbClr val="F3DED8"/>
          </a:solidFill>
          <a:ln w="19050">
            <a:solidFill>
              <a:srgbClr val="9337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33723"/>
                </a:solidFill>
                <a:latin typeface="Bahnschrift"/>
              </a:rPr>
              <a:t>We cannot check Taxl against the model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CarMaker never reads the axle torque, so a measurement error shows up only as that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small speed offset, which looks like any other modelling choice. Torque calibration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has to be done on the bench.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626864"/>
            <a:ext cx="3520440" cy="1188720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To check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Model.USE_MODE in the tire file. 13, 14 or 15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is expected. It decides both the lateral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coupling and the low-speed behaviour.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4626864"/>
            <a:ext cx="3520440" cy="1188720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Recorded simplifications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All CarMaker brake torque zeroed, since real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braking is inside Taxl. Support torques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zeroed too: no squat, no mount reaction.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5008" y="4626864"/>
            <a:ext cx="3520440" cy="1188720"/>
          </a:xfrm>
          <a:prstGeom prst="rect">
            <a:avLst/>
          </a:prstGeom>
          <a:noFill/>
          <a:ln w="15875">
            <a:solidFill>
              <a:srgbClr val="C7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820"/>
                </a:solidFill>
                <a:latin typeface="Bahnschrift"/>
              </a:rPr>
              <a:t>Full detail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doc/xil/AxleDynoCarMakerCoupling.md has the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step-indexed equations, the source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A5764"/>
                </a:solidFill>
                <a:latin typeface="Consolas"/>
              </a:rPr>
              <a:t>references and the open-item list.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