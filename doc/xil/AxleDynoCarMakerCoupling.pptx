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515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A9611A"/>
                </a:solidFill>
                <a:latin typeface="Consolas"/>
              </a:rPr>
              <a:t>FIXS  ·  XIL BENCH  ·  dev_v0.9.0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81328"/>
            <a:ext cx="102412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200" b="1">
                <a:solidFill>
                  <a:srgbClr val="111820"/>
                </a:solidFill>
                <a:latin typeface="Bahnschrift"/>
              </a:rPr>
              <a:t>Axle Dyno ↔ CarMaker Coupling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61488"/>
            <a:ext cx="8778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5764"/>
                </a:solidFill>
                <a:latin typeface="Segoe UI"/>
              </a:rPr>
              <a:t>How the working implementation exchanges torque and speed with CarMaker across a single scalar per corner — where the one-step delay comes from, why the loop is stable, and what the architecture cannot tell you about itself.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803904"/>
            <a:ext cx="7498080" cy="969264"/>
          </a:xfrm>
          <a:prstGeom prst="rect">
            <a:avLst/>
          </a:prstGeom>
          <a:solidFill>
            <a:srgbClr val="F4F6F7"/>
          </a:solidFill>
          <a:ln w="12700">
            <a:solidFill>
              <a:srgbClr val="C7C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54864" lIns="14630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820"/>
                </a:solidFill>
                <a:latin typeface="Consolas"/>
              </a:rPr>
              <a:t>w[k] = w[k-1] + (K*Ts / I) * ( Taxl[k] + Trq_T2W[k] )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1100" b="0">
                <a:solidFill>
                  <a:srgbClr val="111820"/>
                </a:solidFill>
                <a:latin typeface="Consolas"/>
              </a:rPr>
              <a:t/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1100" b="0">
                <a:solidFill>
                  <a:srgbClr val="4A5764"/>
                </a:solidFill>
                <a:latin typeface="Consolas"/>
              </a:rPr>
              <a:t>K = 1     Ts = 0.001 s     I = Wheel.&lt;i&gt;.I  (CarMaker parameter)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5111496"/>
            <a:ext cx="137160" cy="137160"/>
          </a:xfrm>
          <a:prstGeom prst="rect">
            <a:avLst/>
          </a:prstGeom>
          <a:solidFill>
            <a:srgbClr val="A961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0704" y="5084064"/>
            <a:ext cx="5486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A5764"/>
                </a:solidFill>
                <a:latin typeface="Consolas"/>
              </a:rPr>
              <a:t>hardware · measured · physical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5385816"/>
            <a:ext cx="137160" cy="137160"/>
          </a:xfrm>
          <a:prstGeom prst="rect">
            <a:avLst/>
          </a:prstGeom>
          <a:solidFill>
            <a:srgbClr val="1B6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5358384"/>
            <a:ext cx="5486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A5764"/>
                </a:solidFill>
                <a:latin typeface="Consolas"/>
              </a:rPr>
              <a:t>CarMaker · computed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5660136"/>
            <a:ext cx="137160" cy="137160"/>
          </a:xfrm>
          <a:prstGeom prst="rect">
            <a:avLst/>
          </a:prstGeom>
          <a:solidFill>
            <a:srgbClr val="11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0704" y="5632704"/>
            <a:ext cx="5486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A5764"/>
                </a:solidFill>
                <a:latin typeface="Consolas"/>
              </a:rPr>
              <a:t>our Simulink bypass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66928" y="475488"/>
            <a:ext cx="11064240" cy="0"/>
          </a:xfrm>
          <a:prstGeom prst="line">
            <a:avLst/>
          </a:prstGeom>
          <a:ln w="12700">
            <a:solidFill>
              <a:srgbClr val="C7CE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66928" y="219456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A9611A"/>
                </a:solidFill>
                <a:latin typeface="Consolas"/>
              </a:rPr>
              <a:t>02 / 08</a:t>
            </a:r>
            <a:r>
              <a:rPr sz="900">
                <a:solidFill>
                  <a:srgbClr val="78838F"/>
                </a:solidFill>
                <a:latin typeface="Consolas"/>
              </a:rPr>
              <a:t>    THE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10642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820"/>
                </a:solidFill>
                <a:latin typeface="Bahnschrift"/>
              </a:rPr>
              <a:t>What each part owns, and what crosses between them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4358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A5764"/>
                </a:solidFill>
                <a:latin typeface="Segoe UI"/>
              </a:rPr>
              <a:t>Three parts, four signals, one equation. The wheel speed is computed in Simulink and sent to both sides. Nothing else crosses.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847088"/>
            <a:ext cx="2880360" cy="1554480"/>
          </a:xfrm>
          <a:prstGeom prst="rect">
            <a:avLst/>
          </a:prstGeom>
          <a:solidFill>
            <a:srgbClr val="F2E4D3"/>
          </a:solidFill>
          <a:ln w="19050">
            <a:solidFill>
              <a:srgbClr val="A961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A9611A"/>
                </a:solidFill>
                <a:latin typeface="Bahnschrift"/>
              </a:rPr>
              <a:t>HARDWARE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real powertrain on the dyno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/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The dyno speed controller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makes the shaft follow w.</a:t>
            </a:r>
          </a:p>
        </p:txBody>
      </p:sp>
      <p:sp>
        <p:nvSpPr>
          <p:cNvPr id="7" name="Rectangle 6"/>
          <p:cNvSpPr/>
          <p:nvPr/>
        </p:nvSpPr>
        <p:spPr>
          <a:xfrm>
            <a:off x="4315968" y="1700784"/>
            <a:ext cx="3566160" cy="1847088"/>
          </a:xfrm>
          <a:prstGeom prst="rect">
            <a:avLst/>
          </a:prstGeom>
          <a:noFill/>
          <a:ln w="31750">
            <a:solidFill>
              <a:srgbClr val="1118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11820"/>
                </a:solidFill>
                <a:latin typeface="Bahnschrift"/>
              </a:rPr>
              <a:t>SIMULINK — OUR BLOCK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w[k] = w[k-1]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       + (Ts / I) * ( Taxl[k]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       + Trq_T2W[k] )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/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Ts = 0.001 s, same step as CarMaker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I  = Wheel.&lt;i&gt;.I, read from CarMaker</a:t>
            </a:r>
          </a:p>
        </p:txBody>
      </p:sp>
      <p:sp>
        <p:nvSpPr>
          <p:cNvPr id="8" name="Rectangle 7"/>
          <p:cNvSpPr/>
          <p:nvPr/>
        </p:nvSpPr>
        <p:spPr>
          <a:xfrm>
            <a:off x="8750808" y="1847088"/>
            <a:ext cx="2880360" cy="1554480"/>
          </a:xfrm>
          <a:prstGeom prst="rect">
            <a:avLst/>
          </a:prstGeom>
          <a:solidFill>
            <a:srgbClr val="D9E9EA"/>
          </a:solidFill>
          <a:ln w="19050">
            <a:solidFill>
              <a:srgbClr val="1B64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B646D"/>
                </a:solidFill>
                <a:latin typeface="Bahnschrift"/>
              </a:rPr>
              <a:t>CARMAKER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tire, body, suspension, road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/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Uses w to find tire slip,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then returns the tire torque.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447288" y="2212848"/>
            <a:ext cx="813816" cy="0"/>
          </a:xfrm>
          <a:prstGeom prst="line">
            <a:avLst/>
          </a:prstGeom>
          <a:ln w="31750">
            <a:solidFill>
              <a:srgbClr val="A961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474720" y="1938528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A9611A"/>
                </a:solidFill>
                <a:latin typeface="Consolas"/>
              </a:rPr>
              <a:t>Taxl[k]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395728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78838F"/>
                </a:solidFill>
                <a:latin typeface="Consolas"/>
              </a:rPr>
              <a:t>measured axle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78838F"/>
                </a:solidFill>
                <a:latin typeface="Consolas"/>
              </a:rPr>
              <a:t>torque [Nm]</a:t>
            </a:r>
          </a:p>
        </p:txBody>
      </p:sp>
      <p:cxnSp>
        <p:nvCxnSpPr>
          <p:cNvPr id="12" name="Connector 11"/>
          <p:cNvCxnSpPr/>
          <p:nvPr/>
        </p:nvCxnSpPr>
        <p:spPr>
          <a:xfrm flipH="1">
            <a:off x="3447288" y="3127248"/>
            <a:ext cx="813816" cy="0"/>
          </a:xfrm>
          <a:prstGeom prst="line">
            <a:avLst/>
          </a:prstGeom>
          <a:ln w="31750">
            <a:solidFill>
              <a:srgbClr val="A9611A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474720" y="320040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9611A"/>
                </a:solidFill>
                <a:latin typeface="Consolas"/>
              </a:rPr>
              <a:t>w[k] as speed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9611A"/>
                </a:solidFill>
                <a:latin typeface="Consolas"/>
              </a:rPr>
              <a:t>command [rad/s]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882128" y="2212848"/>
            <a:ext cx="813816" cy="0"/>
          </a:xfrm>
          <a:prstGeom prst="line">
            <a:avLst/>
          </a:prstGeom>
          <a:ln w="31750">
            <a:solidFill>
              <a:srgbClr val="1B646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909560" y="1938528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B646D"/>
                </a:solidFill>
                <a:latin typeface="Consolas"/>
              </a:rPr>
              <a:t>w[k]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09560" y="2395728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78838F"/>
                </a:solidFill>
                <a:latin typeface="Consolas"/>
              </a:rPr>
              <a:t>written to rotv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78838F"/>
                </a:solidFill>
                <a:latin typeface="Consolas"/>
              </a:rPr>
              <a:t>[rad/s]</a:t>
            </a:r>
          </a:p>
        </p:txBody>
      </p:sp>
      <p:cxnSp>
        <p:nvCxnSpPr>
          <p:cNvPr id="17" name="Connector 16"/>
          <p:cNvCxnSpPr/>
          <p:nvPr/>
        </p:nvCxnSpPr>
        <p:spPr>
          <a:xfrm flipH="1">
            <a:off x="7882128" y="3127248"/>
            <a:ext cx="813816" cy="0"/>
          </a:xfrm>
          <a:prstGeom prst="line">
            <a:avLst/>
          </a:prstGeom>
          <a:ln w="31750">
            <a:solidFill>
              <a:srgbClr val="1B646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909560" y="320040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B646D"/>
                </a:solidFill>
                <a:latin typeface="Consolas"/>
              </a:rPr>
              <a:t>Trq_T2W[k]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78838F"/>
                </a:solidFill>
                <a:latin typeface="Consolas"/>
              </a:rPr>
              <a:t>tire torque [Nm]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66928" y="3931920"/>
            <a:ext cx="11064240" cy="0"/>
          </a:xfrm>
          <a:prstGeom prst="line">
            <a:avLst/>
          </a:prstGeom>
          <a:ln w="12700">
            <a:solidFill>
              <a:srgbClr val="C7CE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66928" y="4078224"/>
            <a:ext cx="11064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9611A"/>
                </a:solidFill>
                <a:latin typeface="Consolas"/>
              </a:rPr>
              <a:t>The same w[k] goes to both sides.</a:t>
            </a:r>
            <a:r>
              <a:rPr sz="1000">
                <a:solidFill>
                  <a:srgbClr val="4A5764"/>
                </a:solidFill>
                <a:latin typeface="Consolas"/>
              </a:rPr>
              <a:t>   CarMaker is given the computed speed, not the measured one.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4352544"/>
            <a:ext cx="11064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111820"/>
                </a:solidFill>
                <a:latin typeface="Consolas"/>
              </a:rPr>
              <a:t>The real shaft speed stays in the dyno controller.</a:t>
            </a:r>
            <a:r>
              <a:rPr sz="1000">
                <a:solidFill>
                  <a:srgbClr val="4A5764"/>
                </a:solidFill>
                <a:latin typeface="Consolas"/>
              </a:rPr>
              <a:t>   If the servo lags, CarMaker never finds out.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626864"/>
            <a:ext cx="11064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1B646D"/>
                </a:solidFill>
                <a:latin typeface="Consolas"/>
              </a:rPr>
              <a:t>CarMaker has no wheel speed of its own.</a:t>
            </a:r>
            <a:r>
              <a:rPr sz="1000">
                <a:solidFill>
                  <a:srgbClr val="4A5764"/>
                </a:solidFill>
                <a:latin typeface="Consolas"/>
              </a:rPr>
              <a:t>   Its integrator went with the PowerTrain module, so ours is the only one.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4901184"/>
            <a:ext cx="11064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111820"/>
                </a:solidFill>
                <a:latin typeface="Consolas"/>
              </a:rPr>
              <a:t>CarMaker never uses Taxl either.</a:t>
            </a:r>
            <a:r>
              <a:rPr sz="1000">
                <a:solidFill>
                  <a:srgbClr val="4A5764"/>
                </a:solidFill>
                <a:latin typeface="Consolas"/>
              </a:rPr>
              <a:t>   We send it, but with the support torques zeroed nothing reads it.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5321808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8838F"/>
                </a:solidFill>
                <a:latin typeface="Consolas"/>
              </a:rPr>
              <a:t>Read it as a sentence: add the measured axle torque to the tire torque from CarMaker, divide by the wheel inertia, integrate.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5541264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8838F"/>
                </a:solidFill>
                <a:latin typeface="Consolas"/>
              </a:rPr>
              <a:t>CarMaker does this same integration natively in its DriveLine (RefMan Fig. 16.83). We rebuilt that block with the same inertia parameter,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5760720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8838F"/>
                </a:solidFill>
                <a:latin typeface="Consolas"/>
              </a:rPr>
              <a:t>matching IPG's own UserPowerTrain.mdl. All CarMaker brake torque is zeroed here, because real braking is already inside Taxl.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66928" y="475488"/>
            <a:ext cx="11064240" cy="0"/>
          </a:xfrm>
          <a:prstGeom prst="line">
            <a:avLst/>
          </a:prstGeom>
          <a:ln w="12700">
            <a:solidFill>
              <a:srgbClr val="C7CE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66928" y="219456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A9611A"/>
                </a:solidFill>
                <a:latin typeface="Consolas"/>
              </a:rPr>
              <a:t>03 / 08</a:t>
            </a:r>
            <a:r>
              <a:rPr sz="900">
                <a:solidFill>
                  <a:srgbClr val="78838F"/>
                </a:solidFill>
                <a:latin typeface="Consolas"/>
              </a:rPr>
              <a:t>    TIMING · THE KEY DIAGRAM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10642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820"/>
                </a:solidFill>
                <a:latin typeface="Bahnschrift"/>
              </a:rPr>
              <a:t>Where the one-step delay actually lives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4358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A5764"/>
                </a:solidFill>
                <a:latin typeface="Segoe UI"/>
              </a:rPr>
              <a:t>The tire model has no memory: give it the inputs and it returns a force straight away. The delay comes from the order the modules run in. Rim_rotv is written once per cycle by PowerTrain, and Tire runs before that.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45920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8838F"/>
                </a:solidFill>
                <a:latin typeface="Consolas"/>
              </a:rPr>
              <a:t>cycle k-1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645920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9611A"/>
                </a:solidFill>
                <a:latin typeface="Consolas"/>
              </a:rPr>
              <a:t>cycle 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49840" y="1645920"/>
            <a:ext cx="1828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8838F"/>
                </a:solidFill>
                <a:latin typeface="Consolas"/>
              </a:rPr>
              <a:t>cycle k+1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874520"/>
            <a:ext cx="1572768" cy="658368"/>
          </a:xfrm>
          <a:prstGeom prst="rect">
            <a:avLst/>
          </a:prstGeom>
          <a:noFill/>
          <a:ln w="15875">
            <a:solidFill>
              <a:srgbClr val="C7CED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11820"/>
                </a:solidFill>
                <a:latin typeface="Consolas"/>
              </a:rPr>
              <a:t>… PowerTrain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86000" y="1874520"/>
            <a:ext cx="1417320" cy="658368"/>
          </a:xfrm>
          <a:prstGeom prst="rect">
            <a:avLst/>
          </a:prstGeom>
          <a:solidFill>
            <a:srgbClr val="D9E9EA"/>
          </a:solidFill>
          <a:ln w="15875">
            <a:solidFill>
              <a:srgbClr val="1B64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B646D"/>
                </a:solidFill>
                <a:latin typeface="Consolas"/>
              </a:rPr>
              <a:t>Body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31920" y="1874520"/>
            <a:ext cx="1481328" cy="658368"/>
          </a:xfrm>
          <a:prstGeom prst="rect">
            <a:avLst/>
          </a:prstGeom>
          <a:solidFill>
            <a:srgbClr val="D9E9EA"/>
          </a:solidFill>
          <a:ln w="25400">
            <a:solidFill>
              <a:srgbClr val="1B64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B646D"/>
                </a:solidFill>
                <a:latin typeface="Consolas"/>
              </a:rPr>
              <a:t>Tire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50408" y="1874520"/>
            <a:ext cx="914400" cy="658368"/>
          </a:xfrm>
          <a:prstGeom prst="rect">
            <a:avLst/>
          </a:prstGeom>
          <a:solidFill>
            <a:srgbClr val="D9E9EA"/>
          </a:solidFill>
          <a:ln w="15875">
            <a:solidFill>
              <a:srgbClr val="1B64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B646D"/>
                </a:solidFill>
                <a:latin typeface="Consolas"/>
              </a:rPr>
              <a:t>Brake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01968" y="1874520"/>
            <a:ext cx="1783080" cy="658368"/>
          </a:xfrm>
          <a:prstGeom prst="rect">
            <a:avLst/>
          </a:prstGeom>
          <a:noFill/>
          <a:ln w="31750">
            <a:solidFill>
              <a:srgbClr val="1118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11820"/>
                </a:solidFill>
                <a:latin typeface="Consolas"/>
              </a:rPr>
              <a:t>PowerTrain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A9611A"/>
                </a:solidFill>
                <a:latin typeface="Consolas"/>
              </a:rPr>
              <a:t>= OUR BLOCK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522208" y="1874520"/>
            <a:ext cx="1234440" cy="658368"/>
          </a:xfrm>
          <a:prstGeom prst="rect">
            <a:avLst/>
          </a:prstGeom>
          <a:solidFill>
            <a:srgbClr val="D9E9EA"/>
          </a:solidFill>
          <a:ln w="15875">
            <a:solidFill>
              <a:srgbClr val="1B64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B646D"/>
                </a:solidFill>
                <a:latin typeface="Consolas"/>
              </a:rPr>
              <a:t>Body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12680" y="1874520"/>
            <a:ext cx="1618488" cy="658368"/>
          </a:xfrm>
          <a:prstGeom prst="rect">
            <a:avLst/>
          </a:prstGeom>
          <a:noFill/>
          <a:ln w="15875">
            <a:solidFill>
              <a:srgbClr val="C7CED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11820"/>
                </a:solidFill>
                <a:latin typeface="Consolas"/>
              </a:rPr>
              <a:t>Tire …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931920" y="1591056"/>
            <a:ext cx="5824728" cy="0"/>
          </a:xfrm>
          <a:prstGeom prst="line">
            <a:avLst/>
          </a:prstGeom>
          <a:ln w="19050">
            <a:solidFill>
              <a:srgbClr val="A961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66928" y="3310128"/>
            <a:ext cx="18288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78838F"/>
                </a:solidFill>
                <a:latin typeface="Consolas"/>
              </a:rPr>
              <a:t>shared variable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9611A"/>
                </a:solidFill>
                <a:latin typeface="Consolas"/>
              </a:rPr>
              <a:t>Rim_rotv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139696" y="3931920"/>
            <a:ext cx="585216" cy="0"/>
          </a:xfrm>
          <a:prstGeom prst="line">
            <a:avLst/>
          </a:prstGeom>
          <a:ln w="31750">
            <a:solidFill>
              <a:srgbClr val="A961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2724912" y="3639312"/>
            <a:ext cx="0" cy="292608"/>
          </a:xfrm>
          <a:prstGeom prst="line">
            <a:avLst/>
          </a:prstGeom>
          <a:ln w="31750">
            <a:solidFill>
              <a:srgbClr val="A961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2724912" y="3639312"/>
            <a:ext cx="4517136" cy="0"/>
          </a:xfrm>
          <a:prstGeom prst="line">
            <a:avLst/>
          </a:prstGeom>
          <a:ln w="31750">
            <a:solidFill>
              <a:srgbClr val="A961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7242048" y="3346704"/>
            <a:ext cx="0" cy="292608"/>
          </a:xfrm>
          <a:prstGeom prst="line">
            <a:avLst/>
          </a:prstGeom>
          <a:ln w="31750">
            <a:solidFill>
              <a:srgbClr val="A961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242048" y="3346704"/>
            <a:ext cx="4389120" cy="0"/>
          </a:xfrm>
          <a:prstGeom prst="line">
            <a:avLst/>
          </a:prstGeom>
          <a:ln w="31750">
            <a:solidFill>
              <a:srgbClr val="A961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2834640" y="3401568"/>
            <a:ext cx="2194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8838F"/>
                </a:solidFill>
                <a:latin typeface="Consolas"/>
              </a:rPr>
              <a:t>holds w[k-1]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70064" y="3108960"/>
            <a:ext cx="2194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8838F"/>
                </a:solidFill>
                <a:latin typeface="Consolas"/>
              </a:rPr>
              <a:t>holds w[k]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672584" y="2532888"/>
            <a:ext cx="0" cy="1106424"/>
          </a:xfrm>
          <a:prstGeom prst="line">
            <a:avLst/>
          </a:prstGeom>
          <a:ln w="19050">
            <a:solidFill>
              <a:srgbClr val="1B646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754880" y="2688336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B646D"/>
                </a:solidFill>
                <a:latin typeface="Consolas"/>
              </a:rPr>
              <a:t>READ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646D"/>
                </a:solidFill>
                <a:latin typeface="Consolas"/>
              </a:rPr>
              <a:t>gets w[k-1]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242048" y="2532888"/>
            <a:ext cx="0" cy="813816"/>
          </a:xfrm>
          <a:prstGeom prst="line">
            <a:avLst/>
          </a:prstGeom>
          <a:ln w="19050">
            <a:solidFill>
              <a:srgbClr val="11182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333488" y="2688336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820"/>
                </a:solidFill>
                <a:latin typeface="Consolas"/>
              </a:rPr>
              <a:t>WRITE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11820"/>
                </a:solidFill>
                <a:latin typeface="Consolas"/>
              </a:rPr>
              <a:t>emits w[k]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672584" y="4315968"/>
            <a:ext cx="2569464" cy="365760"/>
          </a:xfrm>
          <a:prstGeom prst="rect">
            <a:avLst/>
          </a:prstGeom>
          <a:solidFill>
            <a:srgbClr val="F2E4D3"/>
          </a:solidFill>
          <a:ln w="19050">
            <a:solidFill>
              <a:srgbClr val="A961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9611A"/>
                </a:solidFill>
                <a:latin typeface="Consolas"/>
              </a:rPr>
              <a:t>this gap IS the z⁻¹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672584" y="3694176"/>
            <a:ext cx="0" cy="621792"/>
          </a:xfrm>
          <a:prstGeom prst="line">
            <a:avLst/>
          </a:prstGeom>
          <a:ln w="12700">
            <a:solidFill>
              <a:srgbClr val="A9611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242048" y="3401568"/>
            <a:ext cx="0" cy="914400"/>
          </a:xfrm>
          <a:prstGeom prst="line">
            <a:avLst/>
          </a:prstGeom>
          <a:ln w="12700">
            <a:solidFill>
              <a:srgbClr val="A9611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7498080" y="4370832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8838F"/>
                </a:solidFill>
                <a:latin typeface="Consolas"/>
              </a:rPr>
              <a:t>A memoryless block fed a stale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8838F"/>
                </a:solidFill>
                <a:latin typeface="Consolas"/>
              </a:rPr>
              <a:t>input still produces a delayed output.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4956048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8838F"/>
                </a:solidFill>
                <a:latin typeface="Consolas"/>
              </a:rPr>
              <a:t>The delay is also REQUIRED: without it, w[k] = w[k-1] + (Ts/I)(Taxl[k] + f(w[k])) is implicit in w[k] — an algebraic loop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5175504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8838F"/>
                </a:solidFill>
                <a:latin typeface="Consolas"/>
              </a:rPr>
              <a:t>needing iteration, which real-time code cannot do. Either the tire's relaxation states break the loop, or this scheduling delay does.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66928" y="475488"/>
            <a:ext cx="11064240" cy="0"/>
          </a:xfrm>
          <a:prstGeom prst="line">
            <a:avLst/>
          </a:prstGeom>
          <a:ln w="12700">
            <a:solidFill>
              <a:srgbClr val="C7CE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66928" y="219456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A9611A"/>
                </a:solidFill>
                <a:latin typeface="Consolas"/>
              </a:rPr>
              <a:t>04 / 08</a:t>
            </a:r>
            <a:r>
              <a:rPr sz="900">
                <a:solidFill>
                  <a:srgbClr val="78838F"/>
                </a:solidFill>
                <a:latin typeface="Consolas"/>
              </a:rPr>
              <a:t>    TWO INTEGRATIONS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10642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820"/>
                </a:solidFill>
                <a:latin typeface="Bahnschrift"/>
              </a:rPr>
              <a:t>The wheel integration happens at the PowerTrain step, not after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4358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A5764"/>
                </a:solidFill>
                <a:latin typeface="Segoe UI"/>
              </a:rPr>
              <a:t>Two different integrations are easy to mix up. They run at different points and belong to different parties.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874520"/>
            <a:ext cx="5394960" cy="1243584"/>
          </a:xfrm>
          <a:prstGeom prst="rect">
            <a:avLst/>
          </a:prstGeom>
          <a:solidFill>
            <a:srgbClr val="F2E4D3"/>
          </a:solidFill>
          <a:ln w="19050">
            <a:solidFill>
              <a:srgbClr val="A961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A9611A"/>
                </a:solidFill>
                <a:latin typeface="Bahnschrift"/>
              </a:rPr>
              <a:t>A · OURS — wheel spin  w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At the PowerTrain slot. CM natively does it in the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DriveLine — “Integration of rotation speeds”, Fig 16.83.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In our build, our Simulink block IS this step.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36208" y="1874520"/>
            <a:ext cx="5394960" cy="1243584"/>
          </a:xfrm>
          <a:prstGeom prst="rect">
            <a:avLst/>
          </a:prstGeom>
          <a:solidFill>
            <a:srgbClr val="D9E9EA"/>
          </a:solidFill>
          <a:ln w="19050">
            <a:solidFill>
              <a:srgbClr val="1B64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B646D"/>
                </a:solidFill>
                <a:latin typeface="Bahnschrift"/>
              </a:rPr>
              <a:t>B · CARMAKER — body &amp; suspension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At Body Frame, AFTER PowerTrain. Fig 1.23 brackets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the whole vehicle-model evaluation as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“One integration step”.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3310128"/>
            <a:ext cx="11064240" cy="1225296"/>
          </a:xfrm>
          <a:prstGeom prst="rect">
            <a:avLst/>
          </a:prstGeom>
          <a:solidFill>
            <a:srgbClr val="F4F6F7"/>
          </a:solidFill>
          <a:ln w="12700">
            <a:solidFill>
              <a:srgbClr val="C7C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54864" lIns="14630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A5764"/>
                </a:solidFill>
                <a:latin typeface="Consolas"/>
              </a:rPr>
              <a:t>Tire         reads  Rim_rotv = w[k-1],  emits Trq_T2W[k]      (memoryless map)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1100" b="0">
                <a:solidFill>
                  <a:srgbClr val="4A5764"/>
                </a:solidFill>
                <a:latin typeface="Consolas"/>
              </a:rPr>
              <a:t>Brake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1100" b="1">
                <a:solidFill>
                  <a:srgbClr val="A9611A"/>
                </a:solidFill>
                <a:latin typeface="Consolas"/>
              </a:rPr>
              <a:t>PowerTrain   INTEGRATION A:  w[k] = w[k-1] + (Ts/I)(Taxl[k] + Trq_T2W[k])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1100" b="1">
                <a:solidFill>
                  <a:srgbClr val="1B646D"/>
                </a:solidFill>
                <a:latin typeface="Consolas"/>
              </a:rPr>
              <a:t>Body Frame   INTEGRATION B:  advances chassis / suspension states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4736592"/>
            <a:ext cx="5394960" cy="1243584"/>
          </a:xfrm>
          <a:prstGeom prst="rect">
            <a:avLst/>
          </a:prstGeom>
          <a:noFill/>
          <a:ln w="15875">
            <a:solidFill>
              <a:srgbClr val="C7C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11820"/>
                </a:solidFill>
                <a:latin typeface="Bahnschrift"/>
              </a:rPr>
              <a:t>CM's solver is Backward Euler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“Since the solver used in CarMaker is backwards-euler,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the user needs to choose this option.”  Our K*Ts*z/(z-1)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matches CM's own solver, not just IPG's reference model.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6208" y="4736592"/>
            <a:ext cx="5394960" cy="1243584"/>
          </a:xfrm>
          <a:prstGeom prst="rect">
            <a:avLst/>
          </a:prstGeom>
          <a:solidFill>
            <a:srgbClr val="F3DED8"/>
          </a:solidFill>
          <a:ln w="19050">
            <a:solidFill>
              <a:srgbClr val="9337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933723"/>
                </a:solidFill>
                <a:latin typeface="Bahnschrift"/>
              </a:rPr>
              <a:t>THE ONE RULE — add no further delay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The ordering supplies exactly one step, free. Any Memory,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Unit Delay or rate transition on Trq_T2W → integrator →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rotv makes d = 2, costing a further dzeta ~ 0.14.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66928" y="475488"/>
            <a:ext cx="11064240" cy="0"/>
          </a:xfrm>
          <a:prstGeom prst="line">
            <a:avLst/>
          </a:prstGeom>
          <a:ln w="12700">
            <a:solidFill>
              <a:srgbClr val="C7CE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66928" y="219456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A9611A"/>
                </a:solidFill>
                <a:latin typeface="Consolas"/>
              </a:rPr>
              <a:t>05 / 08</a:t>
            </a:r>
            <a:r>
              <a:rPr sz="900">
                <a:solidFill>
                  <a:srgbClr val="78838F"/>
                </a:solidFill>
                <a:latin typeface="Consolas"/>
              </a:rPr>
              <a:t>    INSIDE THE TIRE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10642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820"/>
                </a:solidFill>
                <a:latin typeface="Bahnschrift"/>
              </a:rPr>
              <a:t>The tire has almost no state, and the one exception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82880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B646D"/>
                </a:solidFill>
                <a:latin typeface="Bahnschrift"/>
              </a:rPr>
              <a:t>INPUTS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157984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820"/>
                </a:solidFill>
                <a:latin typeface="Consolas"/>
              </a:rPr>
              <a:t>P_v0_W[0..2]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414016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A9611A"/>
                </a:solidFill>
                <a:latin typeface="Consolas"/>
              </a:rPr>
              <a:t>Rim_rotv   ← our w[k-1]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670048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820"/>
                </a:solidFill>
                <a:latin typeface="Consolas"/>
              </a:rPr>
              <a:t>Frc_W[2] = Fz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926080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820"/>
                </a:solidFill>
                <a:latin typeface="Consolas"/>
              </a:rPr>
              <a:t>InclinAngle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182112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820"/>
                </a:solidFill>
                <a:latin typeface="Consolas"/>
              </a:rPr>
              <a:t>muRoad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3438144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820"/>
                </a:solidFill>
                <a:latin typeface="Consolas"/>
              </a:rPr>
              <a:t>Rim_turnv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3822192"/>
            <a:ext cx="2834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33723"/>
                </a:solidFill>
                <a:latin typeface="Consolas"/>
              </a:rPr>
              <a:t>no torque input exists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49040" y="1828800"/>
            <a:ext cx="4846320" cy="658368"/>
          </a:xfrm>
          <a:prstGeom prst="rect">
            <a:avLst/>
          </a:prstGeom>
          <a:noFill/>
          <a:ln w="15875">
            <a:solidFill>
              <a:srgbClr val="C7C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78838F"/>
                </a:solidFill>
                <a:latin typeface="Consolas"/>
              </a:rPr>
              <a:t>1 · kinematics → slip  — algebraic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s = (Rim_rotv*rBelt_eff - vx) / |…|      alpha = atan(vy/|vx|)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749040" y="2615184"/>
            <a:ext cx="4846320" cy="786384"/>
          </a:xfrm>
          <a:prstGeom prst="rect">
            <a:avLst/>
          </a:prstGeom>
          <a:solidFill>
            <a:srgbClr val="F2E4D3"/>
          </a:solidFill>
          <a:ln w="25400">
            <a:solidFill>
              <a:srgbClr val="A961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A9611A"/>
                </a:solidFill>
                <a:latin typeface="Consolas"/>
              </a:rPr>
              <a:t>1.5 · RELAXATION — THE ONLY STATE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du/dt, dv/dt  (EQ 383-384)    tau = sigma / |Vcx|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2-3 states per wheel · only if USE_MODE &gt;= +10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49040" y="3529584"/>
            <a:ext cx="4846320" cy="566928"/>
          </a:xfrm>
          <a:prstGeom prst="rect">
            <a:avLst/>
          </a:prstGeom>
          <a:noFill/>
          <a:ln w="15875">
            <a:solidFill>
              <a:srgbClr val="C7C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78838F"/>
                </a:solidFill>
                <a:latin typeface="Consolas"/>
              </a:rPr>
              <a:t>2 · pure-slip forces — algebraic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Fx0(s)        Fy0(alpha)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49040" y="4206240"/>
            <a:ext cx="4846320" cy="786384"/>
          </a:xfrm>
          <a:prstGeom prst="rect">
            <a:avLst/>
          </a:prstGeom>
          <a:solidFill>
            <a:srgbClr val="D9E9EA"/>
          </a:solidFill>
          <a:ln w="25400">
            <a:solidFill>
              <a:srgbClr val="1B64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B646D"/>
                </a:solidFill>
                <a:latin typeface="Consolas"/>
              </a:rPr>
              <a:t>3 · COMBINED SLIP — algebraic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Fx = Gx(alpha) * Fx0(s)      EQ 352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Fy = Gy(s)     * Fy0(alpha)  EQ 360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749040" y="5120640"/>
            <a:ext cx="4846320" cy="621792"/>
          </a:xfrm>
          <a:prstGeom prst="rect">
            <a:avLst/>
          </a:prstGeom>
          <a:noFill/>
          <a:ln w="15875">
            <a:solidFill>
              <a:srgbClr val="C7C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78838F"/>
                </a:solidFill>
                <a:latin typeface="Consolas"/>
              </a:rPr>
              <a:t>4 · spin-axis moment — algebraic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Trq_T2W  !=  -r*Fx   —  also carries TrqRR (SAE J2452)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06840" y="18288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B646D"/>
                </a:solidFill>
                <a:latin typeface="Bahnschrift"/>
              </a:rPr>
              <a:t>OUTPUTS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06840" y="2157984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820"/>
                </a:solidFill>
                <a:latin typeface="Consolas"/>
              </a:rPr>
              <a:t>Slp   Alpha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06840" y="2414016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820"/>
                </a:solidFill>
                <a:latin typeface="Consolas"/>
              </a:rPr>
              <a:t>TurnSlp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06840" y="2670048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820"/>
                </a:solidFill>
                <a:latin typeface="Consolas"/>
              </a:rPr>
              <a:t>vBelt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06840" y="2926080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820"/>
                </a:solidFill>
                <a:latin typeface="Consolas"/>
              </a:rPr>
              <a:t>rBelt_eff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06840" y="3182112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820"/>
                </a:solidFill>
                <a:latin typeface="Consolas"/>
              </a:rPr>
              <a:t>Frc_W  Fx Fy Fz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06840" y="3438144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820"/>
                </a:solidFill>
                <a:latin typeface="Consolas"/>
              </a:rPr>
              <a:t>Trq_W  Mx My Mz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06840" y="393192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B646D"/>
                </a:solidFill>
                <a:latin typeface="Consolas"/>
              </a:rPr>
              <a:t>Trq_T2W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06840" y="4352544"/>
            <a:ext cx="29260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8838F"/>
                </a:solidFill>
                <a:latin typeface="Consolas"/>
              </a:rPr>
              <a:t>Fz is an INPUT, not a state: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8838F"/>
                </a:solidFill>
                <a:latin typeface="Consolas"/>
              </a:rPr>
              <a:t>CPI models carry no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8838F"/>
                </a:solidFill>
                <a:latin typeface="Consolas"/>
              </a:rPr>
              <a:t>vertical dynamics.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383280" y="2651760"/>
            <a:ext cx="310896" cy="0"/>
          </a:xfrm>
          <a:prstGeom prst="line">
            <a:avLst/>
          </a:prstGeom>
          <a:ln w="31750">
            <a:solidFill>
              <a:srgbClr val="A961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8631936" y="4023360"/>
            <a:ext cx="320040" cy="0"/>
          </a:xfrm>
          <a:prstGeom prst="line">
            <a:avLst/>
          </a:prstGeom>
          <a:ln w="31750">
            <a:solidFill>
              <a:srgbClr val="1B646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66928" y="5888736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8838F"/>
                </a:solidFill>
                <a:latin typeface="Consolas"/>
              </a:rPr>
              <a:t>The relaxation states set the ~45 Hz mode on the next slide. Without them the tire is an instantaneous spring from rotv to torque and the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6108192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8838F"/>
                </a:solidFill>
                <a:latin typeface="Consolas"/>
              </a:rPr>
              <a:t>delayed loop is far less forgiving. Model.USE_MODE 11/12 gives exactly that stateless version.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66928" y="475488"/>
            <a:ext cx="11064240" cy="0"/>
          </a:xfrm>
          <a:prstGeom prst="line">
            <a:avLst/>
          </a:prstGeom>
          <a:ln w="12700">
            <a:solidFill>
              <a:srgbClr val="C7CE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66928" y="219456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A9611A"/>
                </a:solidFill>
                <a:latin typeface="Consolas"/>
              </a:rPr>
              <a:t>06 / 08</a:t>
            </a:r>
            <a:r>
              <a:rPr sz="900">
                <a:solidFill>
                  <a:srgbClr val="78838F"/>
                </a:solidFill>
                <a:latin typeface="Consolas"/>
              </a:rPr>
              <a:t>    LONGITUDINAL ↔ LATERAL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10642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820"/>
                </a:solidFill>
                <a:latin typeface="Bahnschrift"/>
              </a:rPr>
              <a:t>The bench is longitudinal-only, but the load it sees is lateral-aware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011680"/>
            <a:ext cx="2286000" cy="786384"/>
          </a:xfrm>
          <a:prstGeom prst="rect">
            <a:avLst/>
          </a:prstGeom>
          <a:noFill/>
          <a:ln w="31750">
            <a:solidFill>
              <a:srgbClr val="A961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A9611A"/>
                </a:solidFill>
                <a:latin typeface="Bahnschrift"/>
              </a:rPr>
              <a:t>our w[k]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→ vBelt → 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3931920"/>
            <a:ext cx="2286000" cy="786384"/>
          </a:xfrm>
          <a:prstGeom prst="rect">
            <a:avLst/>
          </a:prstGeom>
          <a:noFill/>
          <a:ln w="19050">
            <a:solidFill>
              <a:srgbClr val="1B64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B646D"/>
                </a:solidFill>
                <a:latin typeface="Bahnschrift"/>
              </a:rPr>
              <a:t>steer, yaw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→ vy(P) → alpha</a:t>
            </a:r>
          </a:p>
        </p:txBody>
      </p:sp>
      <p:sp>
        <p:nvSpPr>
          <p:cNvPr id="7" name="Rectangle 6"/>
          <p:cNvSpPr/>
          <p:nvPr/>
        </p:nvSpPr>
        <p:spPr>
          <a:xfrm>
            <a:off x="3749040" y="1920240"/>
            <a:ext cx="3017520" cy="969264"/>
          </a:xfrm>
          <a:prstGeom prst="rect">
            <a:avLst/>
          </a:prstGeom>
          <a:solidFill>
            <a:srgbClr val="F2E4D3"/>
          </a:solidFill>
          <a:ln w="19050">
            <a:solidFill>
              <a:srgbClr val="A961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11820"/>
                </a:solidFill>
                <a:latin typeface="Bahnschrift"/>
              </a:rPr>
              <a:t>Fx = Gx(alpha)·Fx0(s)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longitudinal force,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de-rated by sideslip</a:t>
            </a:r>
          </a:p>
        </p:txBody>
      </p:sp>
      <p:sp>
        <p:nvSpPr>
          <p:cNvPr id="8" name="Rectangle 7"/>
          <p:cNvSpPr/>
          <p:nvPr/>
        </p:nvSpPr>
        <p:spPr>
          <a:xfrm>
            <a:off x="3749040" y="3840480"/>
            <a:ext cx="3017520" cy="969264"/>
          </a:xfrm>
          <a:prstGeom prst="rect">
            <a:avLst/>
          </a:prstGeom>
          <a:solidFill>
            <a:srgbClr val="D9E9EA"/>
          </a:solidFill>
          <a:ln w="19050">
            <a:solidFill>
              <a:srgbClr val="1B64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11820"/>
                </a:solidFill>
                <a:latin typeface="Bahnschrift"/>
              </a:rPr>
              <a:t>Fy = Gy(s)·Fy0(alpha)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lateral force,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de-rated by long. slip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0" y="1920240"/>
            <a:ext cx="2743200" cy="969264"/>
          </a:xfrm>
          <a:prstGeom prst="rect">
            <a:avLst/>
          </a:prstGeom>
          <a:noFill/>
          <a:ln w="31750">
            <a:solidFill>
              <a:srgbClr val="9337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933723"/>
                </a:solidFill>
                <a:latin typeface="Bahnschrift"/>
              </a:rPr>
              <a:t>Trq_T2W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back into our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integrator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3840480"/>
            <a:ext cx="2743200" cy="969264"/>
          </a:xfrm>
          <a:prstGeom prst="rect">
            <a:avLst/>
          </a:prstGeom>
          <a:noFill/>
          <a:ln w="15875">
            <a:solidFill>
              <a:srgbClr val="C7C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11820"/>
                </a:solidFill>
                <a:latin typeface="Bahnschrift"/>
              </a:rPr>
              <a:t>Fz — load transfer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pitch → understeer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balance shifts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852928" y="2404872"/>
            <a:ext cx="841248" cy="0"/>
          </a:xfrm>
          <a:prstGeom prst="line">
            <a:avLst/>
          </a:prstGeom>
          <a:ln w="31750">
            <a:solidFill>
              <a:srgbClr val="A961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852928" y="4325112"/>
            <a:ext cx="841248" cy="0"/>
          </a:xfrm>
          <a:prstGeom prst="line">
            <a:avLst/>
          </a:prstGeom>
          <a:ln w="25400">
            <a:solidFill>
              <a:srgbClr val="1B646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766560" y="2404872"/>
            <a:ext cx="950976" cy="0"/>
          </a:xfrm>
          <a:prstGeom prst="line">
            <a:avLst/>
          </a:prstGeom>
          <a:ln w="38100">
            <a:solidFill>
              <a:srgbClr val="93372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766560" y="4325112"/>
            <a:ext cx="950976" cy="0"/>
          </a:xfrm>
          <a:prstGeom prst="line">
            <a:avLst/>
          </a:prstGeom>
          <a:ln w="25400">
            <a:solidFill>
              <a:srgbClr val="C7CED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669280" y="2889504"/>
            <a:ext cx="0" cy="896112"/>
          </a:xfrm>
          <a:prstGeom prst="line">
            <a:avLst/>
          </a:prstGeom>
          <a:ln w="31750">
            <a:solidFill>
              <a:srgbClr val="A961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779008" y="3145536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A9611A"/>
                </a:solidFill>
                <a:latin typeface="Consolas"/>
              </a:rPr>
              <a:t>A   s → Gy(s)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8838F"/>
                </a:solidFill>
                <a:latin typeface="Consolas"/>
              </a:rPr>
              <a:t>     Fy de-rated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4846320" y="2889504"/>
            <a:ext cx="0" cy="896112"/>
          </a:xfrm>
          <a:prstGeom prst="line">
            <a:avLst/>
          </a:prstGeom>
          <a:ln w="38100">
            <a:solidFill>
              <a:srgbClr val="93372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840480" y="321868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933723"/>
                </a:solidFill>
                <a:latin typeface="Consolas"/>
              </a:rPr>
              <a:t>C</a:t>
            </a:r>
          </a:p>
        </p:txBody>
      </p:sp>
      <p:cxnSp>
        <p:nvCxnSpPr>
          <p:cNvPr id="19" name="Connector 18"/>
          <p:cNvCxnSpPr/>
          <p:nvPr/>
        </p:nvCxnSpPr>
        <p:spPr>
          <a:xfrm flipV="1">
            <a:off x="9144000" y="2889504"/>
            <a:ext cx="0" cy="896112"/>
          </a:xfrm>
          <a:prstGeom prst="line">
            <a:avLst/>
          </a:prstGeom>
          <a:ln w="19050">
            <a:solidFill>
              <a:srgbClr val="C7CED5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876288" y="405993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78838F"/>
                </a:solidFill>
                <a:latin typeface="Consolas"/>
              </a:rPr>
              <a:t>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69880" y="2011680"/>
            <a:ext cx="16459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933723"/>
                </a:solidFill>
                <a:latin typeface="Consolas"/>
              </a:rPr>
              <a:t>PATH C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33723"/>
                </a:solidFill>
                <a:latin typeface="Consolas"/>
              </a:rPr>
              <a:t>reaches the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33723"/>
                </a:solidFill>
                <a:latin typeface="Consolas"/>
              </a:rPr>
              <a:t>hardware.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69880" y="3950208"/>
            <a:ext cx="16459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8838F"/>
                </a:solidFill>
                <a:latin typeface="Consolas"/>
              </a:rPr>
              <a:t>Path B partly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8838F"/>
                </a:solidFill>
                <a:latin typeface="Consolas"/>
              </a:rPr>
              <a:t>suppressed: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8838F"/>
                </a:solidFill>
                <a:latin typeface="Consolas"/>
              </a:rPr>
              <a:t>Supp2WC = 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5193792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8838F"/>
                </a:solidFill>
                <a:latin typeface="Consolas"/>
              </a:rPr>
              <a:t>In a corner the same axle torque produces a different wheel acceleration — cornering reaches the bench through the torque, with no lateral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5413248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8838F"/>
                </a:solidFill>
                <a:latin typeface="Consolas"/>
              </a:rPr>
              <a:t>signal crossing the interface. All three paths require Model.USE_MODE to select combined slip; at 11 or 12, paths A and C do not exist.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66928" y="475488"/>
            <a:ext cx="11064240" cy="0"/>
          </a:xfrm>
          <a:prstGeom prst="line">
            <a:avLst/>
          </a:prstGeom>
          <a:ln w="12700">
            <a:solidFill>
              <a:srgbClr val="C7CE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66928" y="219456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A9611A"/>
                </a:solidFill>
                <a:latin typeface="Consolas"/>
              </a:rPr>
              <a:t>07 / 08</a:t>
            </a:r>
            <a:r>
              <a:rPr sz="900">
                <a:solidFill>
                  <a:srgbClr val="78838F"/>
                </a:solidFill>
                <a:latin typeface="Consolas"/>
              </a:rPr>
              <a:t>    STABILITY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10642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820"/>
                </a:solidFill>
                <a:latin typeface="Bahnschrift"/>
              </a:rPr>
              <a:t>A ~45 Hz mode whose damping grows with speed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4358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A5764"/>
                </a:solidFill>
                <a:latin typeface="Segoe UI"/>
              </a:rPr>
              <a:t>Wheel inertia working against tire relaxation gives a second-order system. Its frequency does not change with speed. Its damping is proportional to speed, and the one-step delay takes a fixed amount away.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810512"/>
            <a:ext cx="11064240" cy="1005840"/>
          </a:xfrm>
          <a:prstGeom prst="rect">
            <a:avLst/>
          </a:prstGeom>
          <a:solidFill>
            <a:srgbClr val="F4F6F7"/>
          </a:solidFill>
          <a:ln w="12700">
            <a:solidFill>
              <a:srgbClr val="C7C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54864" lIns="14630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820"/>
                </a:solidFill>
                <a:latin typeface="Consolas"/>
              </a:rPr>
              <a:t>wn   = r * sqrt( Cs / (I*sigma) )  ~ 286 rad/s ~ 45 Hz   — INDEPENDENT of speed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1100" b="0">
                <a:solidFill>
                  <a:srgbClr val="111820"/>
                </a:solidFill>
                <a:latin typeface="Consolas"/>
              </a:rPr>
              <a:t>zeta = vx / (2*sigma*wn)           ~ vx / 28.6           — proportional to speed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1100" b="1">
                <a:solidFill>
                  <a:srgbClr val="A9611A"/>
                </a:solidFill>
                <a:latin typeface="Consolas"/>
              </a:rPr>
              <a:t>delay cost                         ~ wn*Ts/2 = 0.143     — fixed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072384"/>
            <a:ext cx="6492240" cy="2304288"/>
          </a:xfrm>
          <a:prstGeom prst="rect">
            <a:avLst/>
          </a:prstGeom>
          <a:noFill/>
          <a:ln w="12700">
            <a:solidFill>
              <a:srgbClr val="C7C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3072384"/>
            <a:ext cx="432816" cy="2304288"/>
          </a:xfrm>
          <a:prstGeom prst="rect">
            <a:avLst/>
          </a:prstGeom>
          <a:solidFill>
            <a:srgbClr val="D9E9EA"/>
          </a:solidFill>
          <a:ln w="6350">
            <a:solidFill>
              <a:srgbClr val="D9E9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255776" y="3072384"/>
            <a:ext cx="454457" cy="2304288"/>
          </a:xfrm>
          <a:prstGeom prst="rect">
            <a:avLst/>
          </a:prstGeom>
          <a:solidFill>
            <a:srgbClr val="F3DED8"/>
          </a:solidFill>
          <a:ln w="6350">
            <a:solidFill>
              <a:srgbClr val="F3D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/>
        </p:txBody>
      </p:sp>
      <p:cxnSp>
        <p:nvCxnSpPr>
          <p:cNvPr id="10" name="Connector 9"/>
          <p:cNvCxnSpPr/>
          <p:nvPr/>
        </p:nvCxnSpPr>
        <p:spPr>
          <a:xfrm>
            <a:off x="822960" y="4800600"/>
            <a:ext cx="6492240" cy="0"/>
          </a:xfrm>
          <a:prstGeom prst="line">
            <a:avLst/>
          </a:prstGeom>
          <a:ln w="9525">
            <a:solidFill>
              <a:srgbClr val="C7CED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02336" y="4700016"/>
            <a:ext cx="40233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78838F"/>
                </a:solidFill>
                <a:latin typeface="Consolas"/>
              </a:rPr>
              <a:t>0.2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22960" y="4224528"/>
            <a:ext cx="6492240" cy="0"/>
          </a:xfrm>
          <a:prstGeom prst="line">
            <a:avLst/>
          </a:prstGeom>
          <a:ln w="9525">
            <a:solidFill>
              <a:srgbClr val="C7CED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02336" y="4123944"/>
            <a:ext cx="40233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78838F"/>
                </a:solidFill>
                <a:latin typeface="Consolas"/>
              </a:rPr>
              <a:t>0.4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" y="3648456"/>
            <a:ext cx="6492240" cy="0"/>
          </a:xfrm>
          <a:prstGeom prst="line">
            <a:avLst/>
          </a:prstGeom>
          <a:ln w="9525">
            <a:solidFill>
              <a:srgbClr val="C7CED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02336" y="3547872"/>
            <a:ext cx="40233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78838F"/>
                </a:solidFill>
                <a:latin typeface="Consolas"/>
              </a:rPr>
              <a:t>0.6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22960" y="5376672"/>
            <a:ext cx="6492240" cy="0"/>
          </a:xfrm>
          <a:prstGeom prst="line">
            <a:avLst/>
          </a:prstGeom>
          <a:ln w="19050">
            <a:solidFill>
              <a:srgbClr val="1118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822960" y="2355315"/>
            <a:ext cx="6492240" cy="3021357"/>
          </a:xfrm>
          <a:prstGeom prst="line">
            <a:avLst/>
          </a:prstGeom>
          <a:ln w="31750">
            <a:solidFill>
              <a:srgbClr val="1B646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1708069" y="2767207"/>
            <a:ext cx="5607131" cy="2609465"/>
          </a:xfrm>
          <a:prstGeom prst="line">
            <a:avLst/>
          </a:prstGeom>
          <a:ln w="38100">
            <a:solidFill>
              <a:srgbClr val="A961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754880" y="3129991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B646D"/>
                </a:solidFill>
                <a:latin typeface="Consolas"/>
              </a:rPr>
              <a:t>zeta physical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3878885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A9611A"/>
                </a:solidFill>
                <a:latin typeface="Consolas"/>
              </a:rPr>
              <a:t>after 1-step delay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5431536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78838F"/>
                </a:solidFill>
                <a:latin typeface="Consolas"/>
              </a:rP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40408" y="5431536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78838F"/>
                </a:solidFill>
                <a:latin typeface="Consolas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22448" y="5431536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78838F"/>
                </a:solidFill>
                <a:latin typeface="Consolas"/>
              </a:rPr>
              <a:t>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04488" y="5431536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78838F"/>
                </a:solidFill>
                <a:latin typeface="Consolas"/>
              </a:rPr>
              <a:t>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86528" y="5431536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78838F"/>
                </a:solidFill>
                <a:latin typeface="Consolas"/>
              </a:rPr>
              <a:t>20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68568" y="5431536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78838F"/>
                </a:solidFill>
                <a:latin typeface="Consolas"/>
              </a:rPr>
              <a:t>25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50608" y="5431536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78838F"/>
                </a:solidFill>
                <a:latin typeface="Consolas"/>
              </a:rPr>
              <a:t>30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0" y="5632704"/>
            <a:ext cx="2377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8838F"/>
                </a:solidFill>
                <a:latin typeface="Consolas"/>
              </a:rPr>
              <a:t>vehicle speed  vx  [m/s]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7824" y="3145536"/>
            <a:ext cx="914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646D"/>
                </a:solidFill>
                <a:latin typeface="Consolas"/>
              </a:rPr>
              <a:t>CM stand-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646D"/>
                </a:solidFill>
                <a:latin typeface="Consolas"/>
              </a:rPr>
              <a:t>still model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646D"/>
                </a:solidFill>
                <a:latin typeface="Consolas"/>
              </a:rPr>
              <a:t>below 2.0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66596" y="3145536"/>
            <a:ext cx="914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33723"/>
                </a:solidFill>
                <a:latin typeface="Consolas"/>
              </a:rPr>
              <a:t>exposed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33723"/>
                </a:solidFill>
                <a:latin typeface="Consolas"/>
              </a:rPr>
              <a:t>band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33723"/>
                </a:solidFill>
                <a:latin typeface="Consolas"/>
              </a:rPr>
              <a:t>2 – 4.1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7635240" y="3072384"/>
          <a:ext cx="42519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0120"/>
                <a:gridCol w="960120"/>
                <a:gridCol w="1097280"/>
                <a:gridCol w="123444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78838F"/>
                          </a:solidFill>
                          <a:latin typeface="Consolas"/>
                        </a:rPr>
                        <a:t>vx [m/s]</a:t>
                      </a:r>
                    </a:p>
                  </a:txBody>
                  <a:tcPr marL="64008" marR="64008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78838F"/>
                          </a:solidFill>
                          <a:latin typeface="Consolas"/>
                        </a:rPr>
                        <a:t>zeta phys</a:t>
                      </a:r>
                    </a:p>
                  </a:txBody>
                  <a:tcPr marL="64008" marR="64008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78838F"/>
                          </a:solidFill>
                          <a:latin typeface="Consolas"/>
                        </a:rPr>
                        <a:t>after delay</a:t>
                      </a:r>
                    </a:p>
                  </a:txBody>
                  <a:tcPr marL="64008" marR="64008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78838F"/>
                          </a:solidFill>
                          <a:latin typeface="Consolas"/>
                        </a:rPr>
                        <a:t>verdict</a:t>
                      </a:r>
                    </a:p>
                  </a:txBody>
                  <a:tcPr marL="64008" marR="64008">
                    <a:solidFill>
                      <a:srgbClr val="F4F6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820"/>
                          </a:solidFill>
                          <a:latin typeface="Consolas"/>
                        </a:rPr>
                        <a:t>20</a:t>
                      </a:r>
                    </a:p>
                  </a:txBody>
                  <a:tcPr marL="64008" marR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820"/>
                          </a:solidFill>
                          <a:latin typeface="Consolas"/>
                        </a:rPr>
                        <a:t>0.70</a:t>
                      </a:r>
                    </a:p>
                  </a:txBody>
                  <a:tcPr marL="64008" marR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820"/>
                          </a:solidFill>
                          <a:latin typeface="Consolas"/>
                        </a:rPr>
                        <a:t>0.56</a:t>
                      </a:r>
                    </a:p>
                  </a:txBody>
                  <a:tcPr marL="64008" marR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820"/>
                          </a:solidFill>
                          <a:latin typeface="Consolas"/>
                        </a:rPr>
                        <a:t>well damped</a:t>
                      </a:r>
                    </a:p>
                  </a:txBody>
                  <a:tcPr marL="64008" marR="6400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820"/>
                          </a:solidFill>
                          <a:latin typeface="Consolas"/>
                        </a:rPr>
                        <a:t>10</a:t>
                      </a:r>
                    </a:p>
                  </a:txBody>
                  <a:tcPr marL="64008" marR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820"/>
                          </a:solidFill>
                          <a:latin typeface="Consolas"/>
                        </a:rPr>
                        <a:t>0.35</a:t>
                      </a:r>
                    </a:p>
                  </a:txBody>
                  <a:tcPr marL="64008" marR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820"/>
                          </a:solidFill>
                          <a:latin typeface="Consolas"/>
                        </a:rPr>
                        <a:t>0.21</a:t>
                      </a:r>
                    </a:p>
                  </a:txBody>
                  <a:tcPr marL="64008" marR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820"/>
                          </a:solidFill>
                          <a:latin typeface="Consolas"/>
                        </a:rPr>
                        <a:t>fine</a:t>
                      </a:r>
                    </a:p>
                  </a:txBody>
                  <a:tcPr marL="64008" marR="6400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820"/>
                          </a:solidFill>
                          <a:latin typeface="Consolas"/>
                        </a:rPr>
                        <a:t>5</a:t>
                      </a:r>
                    </a:p>
                  </a:txBody>
                  <a:tcPr marL="64008" marR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820"/>
                          </a:solidFill>
                          <a:latin typeface="Consolas"/>
                        </a:rPr>
                        <a:t>0.175</a:t>
                      </a:r>
                    </a:p>
                  </a:txBody>
                  <a:tcPr marL="64008" marR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820"/>
                          </a:solidFill>
                          <a:latin typeface="Consolas"/>
                        </a:rPr>
                        <a:t>0.03</a:t>
                      </a:r>
                    </a:p>
                  </a:txBody>
                  <a:tcPr marL="64008" marR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820"/>
                          </a:solidFill>
                          <a:latin typeface="Consolas"/>
                        </a:rPr>
                        <a:t>marginal</a:t>
                      </a:r>
                    </a:p>
                  </a:txBody>
                  <a:tcPr marL="64008" marR="6400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933723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64008" marR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933723"/>
                          </a:solidFill>
                          <a:latin typeface="Consolas"/>
                        </a:rPr>
                        <a:t>0.070</a:t>
                      </a:r>
                    </a:p>
                  </a:txBody>
                  <a:tcPr marL="64008" marR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933723"/>
                          </a:solidFill>
                          <a:latin typeface="Consolas"/>
                        </a:rPr>
                        <a:t>-0.07</a:t>
                      </a:r>
                    </a:p>
                  </a:txBody>
                  <a:tcPr marL="64008" marR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933723"/>
                          </a:solidFill>
                          <a:latin typeface="Consolas"/>
                        </a:rPr>
                        <a:t>mode switch</a:t>
                      </a:r>
                    </a:p>
                  </a:txBody>
                  <a:tcPr marL="64008" marR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566928" y="5577840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8838F"/>
                </a:solidFill>
                <a:latin typeface="Consolas"/>
              </a:rPr>
              <a:t>The mode is PHYSICAL — the tire/wheel torsional resonance a real vehicle has. The delay only removes damping from it. Below 2.0 m/s CarMaker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5797296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8838F"/>
                </a:solidFill>
                <a:latin typeface="Consolas"/>
              </a:rPr>
              <a:t>switches to its stand-still tire model. The residual 2–4.1 m/s band is covered on the bench by switching the dyno to torque mode with Ttire = 0.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66928" y="475488"/>
            <a:ext cx="11064240" cy="0"/>
          </a:xfrm>
          <a:prstGeom prst="line">
            <a:avLst/>
          </a:prstGeom>
          <a:ln w="12700">
            <a:solidFill>
              <a:srgbClr val="C7CE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66928" y="219456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A9611A"/>
                </a:solidFill>
                <a:latin typeface="Consolas"/>
              </a:rPr>
              <a:t>08 / 08</a:t>
            </a:r>
            <a:r>
              <a:rPr sz="900">
                <a:solidFill>
                  <a:srgbClr val="78838F"/>
                </a:solidFill>
                <a:latin typeface="Consolas"/>
              </a:rPr>
              <a:t>    VERDICT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10642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820"/>
                </a:solidFill>
                <a:latin typeface="Bahnschrift"/>
              </a:rPr>
              <a:t>Why it works, and the two things it cannot tell you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45920"/>
            <a:ext cx="3520440" cy="1417320"/>
          </a:xfrm>
          <a:prstGeom prst="rect">
            <a:avLst/>
          </a:prstGeom>
          <a:solidFill>
            <a:srgbClr val="D9E9EA"/>
          </a:solidFill>
          <a:ln w="19050">
            <a:solidFill>
              <a:srgbClr val="1B64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B646D"/>
                </a:solidFill>
                <a:latin typeface="Bahnschrift"/>
              </a:rPr>
              <a:t>One integrator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Divergence needs two states drifting apart.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There is one. CM's tire slip comes from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exactly the number that commands the dyno.</a:t>
            </a:r>
          </a:p>
        </p:txBody>
      </p:sp>
      <p:sp>
        <p:nvSpPr>
          <p:cNvPr id="6" name="Rectangle 5"/>
          <p:cNvSpPr/>
          <p:nvPr/>
        </p:nvSpPr>
        <p:spPr>
          <a:xfrm>
            <a:off x="4315968" y="1645920"/>
            <a:ext cx="3520440" cy="1417320"/>
          </a:xfrm>
          <a:prstGeom prst="rect">
            <a:avLst/>
          </a:prstGeom>
          <a:solidFill>
            <a:srgbClr val="D9E9EA"/>
          </a:solidFill>
          <a:ln w="19050">
            <a:solidFill>
              <a:srgbClr val="1B64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B646D"/>
                </a:solidFill>
                <a:latin typeface="Bahnschrift"/>
              </a:rPr>
              <a:t>IPG's sanctioned bypass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Backward Euler at 1 ms with Wheel.&lt;i&gt;.I read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from CM parameters — block-for-block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identical to UserPowerTrain.mdl.</a:t>
            </a:r>
          </a:p>
        </p:txBody>
      </p:sp>
      <p:sp>
        <p:nvSpPr>
          <p:cNvPr id="7" name="Rectangle 6"/>
          <p:cNvSpPr/>
          <p:nvPr/>
        </p:nvSpPr>
        <p:spPr>
          <a:xfrm>
            <a:off x="8065008" y="1645920"/>
            <a:ext cx="3520440" cy="1417320"/>
          </a:xfrm>
          <a:prstGeom prst="rect">
            <a:avLst/>
          </a:prstGeom>
          <a:solidFill>
            <a:srgbClr val="D9E9EA"/>
          </a:solidFill>
          <a:ln w="19050">
            <a:solidFill>
              <a:srgbClr val="1B64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B646D"/>
                </a:solidFill>
                <a:latin typeface="Bahnschrift"/>
              </a:rPr>
              <a:t>Bounded, not divergent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A 2 N·m torque bias yields 1e-4 slip offset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and ~0.24 m/s speed offset: tire slip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stiffness and road-load drag both restore.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3273552"/>
            <a:ext cx="5440680" cy="1325880"/>
          </a:xfrm>
          <a:prstGeom prst="rect">
            <a:avLst/>
          </a:prstGeom>
          <a:solidFill>
            <a:srgbClr val="F3DED8"/>
          </a:solidFill>
          <a:ln w="19050">
            <a:solidFill>
              <a:srgbClr val="9337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933723"/>
                </a:solidFill>
                <a:latin typeface="Bahnschrift"/>
              </a:rPr>
              <a:t>BLIND SPOT — the servo error is invisible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CM never sees w_act. If the servo saturates we integrate a torque measured at the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wrong operating point. Nothing rings, nothing diverges — the sim quietly becomes a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different vehicle.  ACTION: log w_act - w_cmd and alarm on it.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6208" y="3273552"/>
            <a:ext cx="5440680" cy="1325880"/>
          </a:xfrm>
          <a:prstGeom prst="rect">
            <a:avLst/>
          </a:prstGeom>
          <a:solidFill>
            <a:srgbClr val="F3DED8"/>
          </a:solidFill>
          <a:ln w="19050">
            <a:solidFill>
              <a:srgbClr val="9337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933723"/>
                </a:solidFill>
                <a:latin typeface="Bahnschrift"/>
              </a:rPr>
              <a:t>BLIND SPOT — Taxl cannot be validated against CM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CarMaker never sees Taxl dynamically, so a torque-measurement error surfaces only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as that ~0.24 m/s bias — indistinguishable from a dozen modelling choices.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Calibration must be established on the bench.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4809744"/>
            <a:ext cx="3520440" cy="1234440"/>
          </a:xfrm>
          <a:prstGeom prst="rect">
            <a:avLst/>
          </a:prstGeom>
          <a:noFill/>
          <a:ln w="15875">
            <a:solidFill>
              <a:srgbClr val="C7C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11820"/>
                </a:solidFill>
                <a:latin typeface="Bahnschrift"/>
              </a:rPr>
              <a:t>Still open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Model.USE_MODE in the tire file — decides both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whether combined slip exists and which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stability analysis applies. Expected 13/14/15.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15968" y="4809744"/>
            <a:ext cx="3520440" cy="1234440"/>
          </a:xfrm>
          <a:prstGeom prst="rect">
            <a:avLst/>
          </a:prstGeom>
          <a:noFill/>
          <a:ln w="15875">
            <a:solidFill>
              <a:srgbClr val="C7C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11820"/>
                </a:solidFill>
                <a:latin typeface="Bahnschrift"/>
              </a:rPr>
              <a:t>Recorded simplifications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All CM brake torque zeroed (real braking is inside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Taxl). Trq_Supp2WC / Supp2Bdy1 / Supp2BdyEng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zeroed — no squat, no engine-mount reaction.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65008" y="4809744"/>
            <a:ext cx="3520440" cy="1234440"/>
          </a:xfrm>
          <a:prstGeom prst="rect">
            <a:avLst/>
          </a:prstGeom>
          <a:noFill/>
          <a:ln w="15875">
            <a:solidFill>
              <a:srgbClr val="C7C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11820"/>
                </a:solidFill>
                <a:latin typeface="Bahnschrift"/>
              </a:rPr>
              <a:t>Full detail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doc/xil/AxleDynoCarMakerCoupling.md — k-indexed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equations, source citations, and the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open-item register.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