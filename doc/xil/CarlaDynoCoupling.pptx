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515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A9611A"/>
                </a:solidFill>
                <a:latin typeface="Consolas"/>
              </a:rPr>
              <a:t>FIXS  ·  XIL BENCH  ·  DESIGN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81328"/>
            <a:ext cx="102412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0" b="1">
                <a:solidFill>
                  <a:srgbClr val="111820"/>
                </a:solidFill>
                <a:latin typeface="Bahnschrift"/>
              </a:rPr>
              <a:t>Axle Dyno ↔ CARLA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88920"/>
            <a:ext cx="8961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5764"/>
                </a:solidFill>
                <a:latin typeface="Segoe UI"/>
              </a:rPr>
              <a:t>The dyno loop needs one signal from the vehicle model. CarMaker puts it on the wire. CARLA will not, and no configuration changes that — so the two designs here are two ways of routing around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886200"/>
            <a:ext cx="7498080" cy="658368"/>
          </a:xfrm>
          <a:prstGeom prst="rect">
            <a:avLst/>
          </a:prstGeom>
          <a:solidFill>
            <a:srgbClr val="F4F6F7"/>
          </a:solidFill>
          <a:ln w="12700">
            <a:solidFill>
              <a:srgbClr val="C7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54864" lIns="146304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820"/>
                </a:solidFill>
                <a:latin typeface="Consolas"/>
              </a:rPr>
              <a:t>I * dw/dt  =  Taxl  +  Trq_T2W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100" b="0">
                <a:solidFill>
                  <a:srgbClr val="A9611A"/>
                </a:solidFill>
                <a:latin typeface="Consolas"/>
              </a:rPr>
              <a:t>                          ^^^^^^^  CARLA will not give you this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46320"/>
            <a:ext cx="10058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A5764"/>
                </a:solidFill>
                <a:latin typeface="Consolas"/>
              </a:rPr>
              <a:t>Design A   impose the speed      dyno owns longitudinal, CARLA is told the answer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A5764"/>
                </a:solidFill>
                <a:latin typeface="Consolas"/>
              </a:rPr>
              <a:t>Design B   inject the torque     CARLA's tire and body run, speed recovered from motion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41324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33723"/>
                </a:solidFill>
                <a:latin typeface="Consolas"/>
              </a:rPr>
              <a:t>Both are lumped single-axis. Per-wheel needs a fork.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66928" y="475488"/>
            <a:ext cx="11064240" cy="0"/>
          </a:xfrm>
          <a:prstGeom prst="line">
            <a:avLst/>
          </a:prstGeom>
          <a:ln w="12700">
            <a:solidFill>
              <a:srgbClr val="C7CE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66928" y="219456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A9611A"/>
                </a:solidFill>
                <a:latin typeface="Consolas"/>
              </a:rPr>
              <a:t>02 / 06</a:t>
            </a:r>
            <a:r>
              <a:rPr sz="900">
                <a:solidFill>
                  <a:srgbClr val="78838F"/>
                </a:solidFill>
                <a:latin typeface="Consolas"/>
              </a:rPr>
              <a:t>    THE WALL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64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820"/>
                </a:solidFill>
                <a:latin typeface="Bahnschrift"/>
              </a:rPr>
              <a:t>What CARLA will and will not tell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4358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5764"/>
                </a:solidFill>
                <a:latin typeface="Segoe UI"/>
              </a:rPr>
              <a:t>The data exists and is computed every tick. There is simply no way to ask for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828800"/>
            <a:ext cx="5394960" cy="1874520"/>
          </a:xfrm>
          <a:prstGeom prst="rect">
            <a:avLst/>
          </a:prstGeom>
          <a:solidFill>
            <a:srgbClr val="D9E9EA"/>
          </a:solidFill>
          <a:ln w="19050">
            <a:solidFill>
              <a:srgbClr val="1B64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B646D"/>
                </a:solidFill>
                <a:latin typeface="Bahnschrift"/>
              </a:rPr>
              <a:t>READABLE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get_velocity          get_transform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get_angular_velocity  get_control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get_acceleration      get_physics_control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/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get_wheel_steer_angle    &lt;- the only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                            per-wheel getter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236208" y="1828800"/>
            <a:ext cx="5394960" cy="1874520"/>
          </a:xfrm>
          <a:prstGeom prst="rect">
            <a:avLst/>
          </a:prstGeom>
          <a:solidFill>
            <a:srgbClr val="F3DED8"/>
          </a:solidFill>
          <a:ln w="25400">
            <a:solidFill>
              <a:srgbClr val="9337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933723"/>
                </a:solidFill>
                <a:latin typeface="Bahnschrift"/>
              </a:rPr>
              <a:t>NOT READABLE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wheel speed        omega_i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longitudinal slip  kappa_i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tire force         Fx_i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normal load        Fz_i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wheel torque       Trq_T2W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9136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5764"/>
                </a:solidFill>
                <a:latin typeface="Segoe UI"/>
              </a:rPr>
              <a:t>but all of it is already computed and stored: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4224528"/>
            <a:ext cx="11064240" cy="1060704"/>
          </a:xfrm>
          <a:prstGeom prst="rect">
            <a:avLst/>
          </a:prstGeom>
          <a:solidFill>
            <a:srgbClr val="F4F6F7"/>
          </a:solidFill>
          <a:ln w="12700">
            <a:solidFill>
              <a:srgbClr val="C7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54864" lIns="146304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820"/>
                </a:solidFill>
                <a:latin typeface="Consolas"/>
              </a:rPr>
              <a:t>UVehicleWheel  (UE4)   DebugLongSlip   DebugLatSlip    DebugTireLoad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100" b="0">
                <a:solidFill>
                  <a:srgbClr val="111820"/>
                </a:solidFill>
                <a:latin typeface="Consolas"/>
              </a:rPr>
              <a:t>                       DebugWheelTorque  DebugLongForce  DebugLatForce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100" b="0">
                <a:solidFill>
                  <a:srgbClr val="78838F"/>
                </a:solidFill>
                <a:latin typeface="Consolas"/>
              </a:rPr>
              <a:t>CARLA already holds the pointer: CarlaWheeledVehicle.cpp:309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100" b="1">
                <a:solidFill>
                  <a:srgbClr val="A9611A"/>
                </a:solidFill>
                <a:latin typeface="Consolas"/>
              </a:rPr>
              <a:t>show_debug_telemetry renders them to the HUD.  There is no RPC path.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468112"/>
            <a:ext cx="11064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33723"/>
                </a:solidFill>
                <a:latin typeface="Consolas"/>
              </a:rPr>
              <a:t>Consequence: Trq_T2W and omega_i are both unavailable. Every design that follows is a way of living with that.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66928" y="475488"/>
            <a:ext cx="11064240" cy="0"/>
          </a:xfrm>
          <a:prstGeom prst="line">
            <a:avLst/>
          </a:prstGeom>
          <a:ln w="12700">
            <a:solidFill>
              <a:srgbClr val="C7CE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66928" y="219456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A9611A"/>
                </a:solidFill>
                <a:latin typeface="Consolas"/>
              </a:rPr>
              <a:t>03 / 06</a:t>
            </a:r>
            <a:r>
              <a:rPr sz="900">
                <a:solidFill>
                  <a:srgbClr val="78838F"/>
                </a:solidFill>
                <a:latin typeface="Consolas"/>
              </a:rPr>
              <a:t>    DESIGN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64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820"/>
                </a:solidFill>
                <a:latin typeface="Bahnschrift"/>
              </a:rPr>
              <a:t>Impose the speed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4358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5764"/>
                </a:solidFill>
                <a:latin typeface="Segoe UI"/>
              </a:rPr>
              <a:t>The dyno owns all longitudinal dynamics, including road load from the vehicle's own measured coefficients. CARLA is told the answer.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847088"/>
            <a:ext cx="3200400" cy="1417320"/>
          </a:xfrm>
          <a:prstGeom prst="rect">
            <a:avLst/>
          </a:prstGeom>
          <a:solidFill>
            <a:srgbClr val="F2E4D3"/>
          </a:solidFill>
          <a:ln w="25400">
            <a:solidFill>
              <a:srgbClr val="A961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9611A"/>
                </a:solidFill>
                <a:latin typeface="Bahnschrift"/>
              </a:rPr>
              <a:t>DYNO + ROAD LOAD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Taxl from the real vehicle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A, B, C from real coastdown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-&gt; v(k)</a:t>
            </a:r>
          </a:p>
        </p:txBody>
      </p:sp>
      <p:sp>
        <p:nvSpPr>
          <p:cNvPr id="7" name="Rectangle 6"/>
          <p:cNvSpPr/>
          <p:nvPr/>
        </p:nvSpPr>
        <p:spPr>
          <a:xfrm>
            <a:off x="4498848" y="1847088"/>
            <a:ext cx="3200400" cy="1417320"/>
          </a:xfrm>
          <a:prstGeom prst="rect">
            <a:avLst/>
          </a:prstGeom>
          <a:solidFill>
            <a:srgbClr val="D9E9EA"/>
          </a:solidFill>
          <a:ln w="19050">
            <a:solidFill>
              <a:srgbClr val="1B64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B646D"/>
                </a:solidFill>
                <a:latin typeface="Bahnschrift"/>
              </a:rPr>
              <a:t>CARLA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enable_constant_velocity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( v, 0, 0 )  body frame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/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pose · lateral · traffic</a:t>
            </a:r>
          </a:p>
        </p:txBody>
      </p:sp>
      <p:sp>
        <p:nvSpPr>
          <p:cNvPr id="8" name="Rectangle 7"/>
          <p:cNvSpPr/>
          <p:nvPr/>
        </p:nvSpPr>
        <p:spPr>
          <a:xfrm>
            <a:off x="8430768" y="1847088"/>
            <a:ext cx="3200400" cy="1417320"/>
          </a:xfrm>
          <a:prstGeom prst="rect">
            <a:avLst/>
          </a:prstGeom>
          <a:noFill/>
          <a:ln w="25400">
            <a:solidFill>
              <a:srgbClr val="11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11820"/>
                </a:solidFill>
                <a:latin typeface="Bahnschrift"/>
              </a:rPr>
              <a:t>HUB DYNOS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w_cmd_i = v / r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evenly to all units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/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longitudinal only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767328" y="2487168"/>
            <a:ext cx="676656" cy="0"/>
          </a:xfrm>
          <a:prstGeom prst="line">
            <a:avLst/>
          </a:prstGeom>
          <a:ln w="31750">
            <a:solidFill>
              <a:srgbClr val="A961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699248" y="2487168"/>
            <a:ext cx="676656" cy="0"/>
          </a:xfrm>
          <a:prstGeom prst="line">
            <a:avLst/>
          </a:prstGeom>
          <a:ln w="31750">
            <a:solidFill>
              <a:srgbClr val="1B646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66928" y="34747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B646D"/>
                </a:solidFill>
                <a:latin typeface="Bahnschrift"/>
              </a:rPr>
              <a:t>MEASURED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749040"/>
            <a:ext cx="55778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rejects any external force completely; the residual is exactly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one integration step of it and does not accumulate.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On a 20-degree slope the error was 0.069 m/s -- 0.46%.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the wheels keep up:  tau = J_w*v/(r^2*Cs) = 3.4e-4 * v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  10 m/s -&gt; 3.4 ms    20 -&gt; 6.8 ms    30 -&gt; 10.2 ms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  against a 20-50 ms tick, 3 to 15 time constants.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34747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933723"/>
                </a:solidFill>
                <a:latin typeface="Bahnschrift"/>
              </a:rPr>
              <a:t>WHAT IT COSTS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3749040"/>
            <a:ext cx="53949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writing along the nose imposes ZERO SIDESLIP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  measured 0.45 deg, against 21 deg for a free car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  in the same corner.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the car moves exactly where it points. Yaw is still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dynamic, so the path is right -- what you lose is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drift, oversteer, anything at the friction limit.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358384"/>
            <a:ext cx="11064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8838F"/>
                </a:solidFill>
                <a:latin typeface="Consolas"/>
              </a:rPr>
              <a:t>Use enable_constant_velocity, not set_target_velocity: the former is latched and in body frame (held 15.00 m/s indefinitely,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577840"/>
            <a:ext cx="11064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8838F"/>
                </a:solidFill>
                <a:latin typeface="Consolas"/>
              </a:rPr>
              <a:t>within 1.3 deg of the nose through a 130 deg turn). The latter is a one-shot world-frame write. Both need physics ENABLED.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66928" y="475488"/>
            <a:ext cx="11064240" cy="0"/>
          </a:xfrm>
          <a:prstGeom prst="line">
            <a:avLst/>
          </a:prstGeom>
          <a:ln w="12700">
            <a:solidFill>
              <a:srgbClr val="C7CE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66928" y="219456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A9611A"/>
                </a:solidFill>
                <a:latin typeface="Consolas"/>
              </a:rPr>
              <a:t>04 / 06</a:t>
            </a:r>
            <a:r>
              <a:rPr sz="900">
                <a:solidFill>
                  <a:srgbClr val="78838F"/>
                </a:solidFill>
                <a:latin typeface="Consolas"/>
              </a:rPr>
              <a:t>    DESIGN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64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820"/>
                </a:solidFill>
                <a:latin typeface="Bahnschrift"/>
              </a:rPr>
              <a:t>Inject the torque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4358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5764"/>
                </a:solidFill>
                <a:latin typeface="Segoe UI"/>
              </a:rPr>
              <a:t>CARLA's own tire, wheel and body physics run. The bench feeds torque through the pedals; the wheel speed is recovered from the body's motion.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92224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933723"/>
                </a:solidFill>
                <a:latin typeface="Bahnschrift"/>
              </a:rPr>
              <a:t>FIRST: the drivetrain has to be flattened, or throttle is not a torque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103120"/>
            <a:ext cx="5394960" cy="1097280"/>
          </a:xfrm>
          <a:prstGeom prst="rect">
            <a:avLst/>
          </a:prstGeom>
          <a:solidFill>
            <a:srgbClr val="F3DED8"/>
          </a:solidFill>
          <a:ln w="25400">
            <a:solidFill>
              <a:srgbClr val="9337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3723"/>
                </a:solidFill>
                <a:latin typeface="Consolas"/>
              </a:rPr>
              <a:t>STOCK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moi = 1.0 through final_ratio = 9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  = 81 kg m^2 at the wheel = 592 kg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plus clutch slip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MEASURED: 47% spread across throttle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6208" y="2103120"/>
            <a:ext cx="5394960" cy="1097280"/>
          </a:xfrm>
          <a:prstGeom prst="rect">
            <a:avLst/>
          </a:prstGeom>
          <a:solidFill>
            <a:srgbClr val="D9E9EA"/>
          </a:solidFill>
          <a:ln w="25400">
            <a:solidFill>
              <a:srgbClr val="1B64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B646D"/>
                </a:solidFill>
                <a:latin typeface="Consolas"/>
              </a:rPr>
              <a:t>FLATTENED  (setup-time, once)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moi 0.01 · clutch 1e4 · final 1.0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one gear 1.0 · autobox off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flat torque curve · damping 0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MEASURED: 2.7% spread, 1.1% of predicted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61888" y="2651760"/>
            <a:ext cx="219456" cy="0"/>
          </a:xfrm>
          <a:prstGeom prst="line">
            <a:avLst/>
          </a:prstGeom>
          <a:ln w="31750">
            <a:solidFill>
              <a:srgbClr val="11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566928" y="3364992"/>
            <a:ext cx="11064240" cy="786384"/>
          </a:xfrm>
          <a:prstGeom prst="rect">
            <a:avLst/>
          </a:prstGeom>
          <a:solidFill>
            <a:srgbClr val="F4F6F7"/>
          </a:solidFill>
          <a:ln w="12700">
            <a:solidFill>
              <a:srgbClr val="C7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54864" lIns="146304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611A"/>
                </a:solidFill>
                <a:latin typeface="Consolas"/>
              </a:rPr>
              <a:t>Taxl &gt;= 0 :  throttle = Taxl / T0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100" b="1">
                <a:solidFill>
                  <a:srgbClr val="A9611A"/>
                </a:solidFill>
                <a:latin typeface="Consolas"/>
              </a:rPr>
              <a:t>Taxl &lt;  0 :  brake    = |Taxl| / ( n_wheels * max_brake_torque 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315968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11820"/>
                </a:solidFill>
                <a:latin typeface="Bahnschrift"/>
              </a:rPr>
              <a:t>THEN: recover the wheel speed from the body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4626864"/>
            <a:ext cx="11064240" cy="969264"/>
          </a:xfrm>
          <a:prstGeom prst="rect">
            <a:avLst/>
          </a:prstGeom>
          <a:solidFill>
            <a:srgbClr val="F4F6F7"/>
          </a:solidFill>
          <a:ln w="12700">
            <a:solidFill>
              <a:srgbClr val="C7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54864" lIns="146304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820"/>
                </a:solidFill>
                <a:latin typeface="Consolas"/>
              </a:rPr>
              <a:t>sum Fx  =  m * dv/dt  +  Fres(v)  +  m*g*sin(theta)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100" b="1">
                <a:solidFill>
                  <a:srgbClr val="111820"/>
                </a:solidFill>
                <a:latin typeface="Consolas"/>
              </a:rPr>
              <a:t>Trq_T2W =  -r * sum Fx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100" b="0">
                <a:solidFill>
                  <a:srgbClr val="78838F"/>
                </a:solidFill>
                <a:latin typeface="Consolas"/>
              </a:rPr>
              <a:t>Fres is the ONLY chassis force besides gravity -- everything else is inside Fx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760720"/>
            <a:ext cx="11064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33723"/>
                </a:solidFill>
                <a:latin typeface="Consolas"/>
              </a:rPr>
              <a:t>Difference get_velocity for dv/dt. Do NOT use get_acceleration -- it read 15.55 m/s^2 vertically on a stationary car.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66928" y="475488"/>
            <a:ext cx="11064240" cy="0"/>
          </a:xfrm>
          <a:prstGeom prst="line">
            <a:avLst/>
          </a:prstGeom>
          <a:ln w="12700">
            <a:solidFill>
              <a:srgbClr val="C7CE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66928" y="219456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A9611A"/>
                </a:solidFill>
                <a:latin typeface="Consolas"/>
              </a:rPr>
              <a:t>05 / 06</a:t>
            </a:r>
            <a:r>
              <a:rPr sz="900">
                <a:solidFill>
                  <a:srgbClr val="78838F"/>
                </a:solidFill>
                <a:latin typeface="Consolas"/>
              </a:rPr>
              <a:t>    THE CEILING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64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820"/>
                </a:solidFill>
                <a:latin typeface="Bahnschrift"/>
              </a:rPr>
              <a:t>Both designs are lumped, single-axis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4358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5764"/>
                </a:solidFill>
                <a:latin typeface="Segoe UI"/>
              </a:rPr>
              <a:t>Not by choice. The public API constrains it at both ends, so a per-wheel hub dyno gains nothing from Design B over Design 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920240"/>
            <a:ext cx="5394960" cy="1188720"/>
          </a:xfrm>
          <a:prstGeom prst="rect">
            <a:avLst/>
          </a:prstGeom>
          <a:noFill/>
          <a:ln w="25400">
            <a:solidFill>
              <a:srgbClr val="9337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33723"/>
                </a:solidFill>
                <a:latin typeface="Consolas"/>
              </a:rPr>
              <a:t>IN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throttle is ONE scalar. Torque reaches the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wheels through CARLA's differential, which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decides the split.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Left and right cannot be commanded apart.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36208" y="1920240"/>
            <a:ext cx="5394960" cy="1188720"/>
          </a:xfrm>
          <a:prstGeom prst="rect">
            <a:avLst/>
          </a:prstGeom>
          <a:noFill/>
          <a:ln w="25400">
            <a:solidFill>
              <a:srgbClr val="9337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33723"/>
                </a:solidFill>
                <a:latin typeface="Consolas"/>
              </a:rPr>
              <a:t>OUT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the vdot inverse yields sum Fx from body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acceleration. Splitting it per wheel needs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per-wheel Fz and slip.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Neither is exposed.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310128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B646D"/>
                </a:solidFill>
                <a:latin typeface="Bahnschrift"/>
              </a:rPr>
              <a:t>THE ONLY PER-WHEEL PATH IS A FORK — and the engine class already exists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657600"/>
            <a:ext cx="11064240" cy="1207008"/>
          </a:xfrm>
          <a:prstGeom prst="rect">
            <a:avLst/>
          </a:prstGeom>
          <a:solidFill>
            <a:srgbClr val="D9E9EA"/>
          </a:solidFill>
          <a:ln w="25400">
            <a:solidFill>
              <a:srgbClr val="1B64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B646D"/>
                </a:solidFill>
                <a:latin typeface="Consolas"/>
              </a:rPr>
              <a:t>USimpleWheeledVehicleMovementComponent   -&gt;   PxVehicleNoDrive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78838F"/>
                </a:solidFill>
                <a:latin typeface="Consolas"/>
              </a:rPr>
              <a:t>"a simple PxNoDrive which will give us suspension but no engine forces which we leave to the user"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000" b="0">
                <a:solidFill>
                  <a:srgbClr val="111820"/>
                </a:solidFill>
                <a:latin typeface="Consolas"/>
              </a:rPr>
              <a:t>void SetDriveTorque(float DriveTorque, int32 WheelIndex);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000" b="0">
                <a:solidFill>
                  <a:srgbClr val="111820"/>
                </a:solidFill>
                <a:latin typeface="Consolas"/>
              </a:rPr>
              <a:t>void SetBrakeTorque(float BrakeTorque, int32 WheelIndex);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000" b="0">
                <a:solidFill>
                  <a:srgbClr val="111820"/>
                </a:solidFill>
                <a:latin typeface="Consolas"/>
              </a:rPr>
              <a:t>void SetSteerAngle (float SteerAngle,  int32 WheelIndex);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47488"/>
            <a:ext cx="11064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8838F"/>
                </a:solidFill>
                <a:latin typeface="Consolas"/>
              </a:rPr>
              <a:t>Per-wheel torque, no engine, suspension and tires intact. What is missing is a CARLA vehicle class that uses it -- CARLA already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266944"/>
            <a:ext cx="11064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8838F"/>
                </a:solidFill>
                <a:latin typeface="Consolas"/>
              </a:rPr>
              <a:t>has the pattern, since ACarlaWheeledVehicleNW sits alongside the 4W one -- plus the RPC bindings. A scope decision, not a technical one.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66928" y="475488"/>
            <a:ext cx="11064240" cy="0"/>
          </a:xfrm>
          <a:prstGeom prst="line">
            <a:avLst/>
          </a:prstGeom>
          <a:ln w="12700">
            <a:solidFill>
              <a:srgbClr val="C7CE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66928" y="219456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A9611A"/>
                </a:solidFill>
                <a:latin typeface="Consolas"/>
              </a:rPr>
              <a:t>06 / 06</a:t>
            </a:r>
            <a:r>
              <a:rPr sz="900">
                <a:solidFill>
                  <a:srgbClr val="78838F"/>
                </a:solidFill>
                <a:latin typeface="Consolas"/>
              </a:rPr>
              <a:t>   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64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820"/>
                </a:solidFill>
                <a:latin typeface="Bahnschrift"/>
              </a:rPr>
              <a:t>What is measured, what is derived, what is 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4358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5764"/>
                </a:solidFill>
                <a:latin typeface="Segoe UI"/>
              </a:rPr>
              <a:t>Taken against a live CARLA 0.9.15 server, or read from the CARLA and UE4/PhysX source trees.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92224"/>
            <a:ext cx="8412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A5764"/>
                </a:solidFill>
                <a:latin typeface="Consolas"/>
              </a:rPr>
              <a:t>velocity write rejects external force; residual = one step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1792224"/>
            <a:ext cx="2468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646D"/>
                </a:solidFill>
                <a:latin typeface="Consolas"/>
              </a:rPr>
              <a:t>measured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66544"/>
            <a:ext cx="8412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A5764"/>
                </a:solidFill>
                <a:latin typeface="Consolas"/>
              </a:rPr>
              <a:t>velocity write imposes zero sideslip (0.45 vs 21 deg)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066544"/>
            <a:ext cx="2468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646D"/>
                </a:solidFill>
                <a:latin typeface="Consolas"/>
              </a:rPr>
              <a:t>measured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40864"/>
            <a:ext cx="8412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A5764"/>
                </a:solidFill>
                <a:latin typeface="Consolas"/>
              </a:rPr>
              <a:t>enable_constant_velocity latched + body frame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340864"/>
            <a:ext cx="2468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646D"/>
                </a:solidFill>
                <a:latin typeface="Consolas"/>
              </a:rPr>
              <a:t>measured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615184"/>
            <a:ext cx="8412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A5764"/>
                </a:solidFill>
                <a:latin typeface="Consolas"/>
              </a:rPr>
              <a:t>apply_physics_control resets state (15.00 -&gt; 0.02 m/s)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2615184"/>
            <a:ext cx="2468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646D"/>
                </a:solidFill>
                <a:latin typeface="Consolas"/>
              </a:rPr>
              <a:t>measured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2889504"/>
            <a:ext cx="8412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A5764"/>
                </a:solidFill>
                <a:latin typeface="Consolas"/>
              </a:rPr>
              <a:t>add_force acts at COM, dead from rest, inverts slip 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2889504"/>
            <a:ext cx="2468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646D"/>
                </a:solidFill>
                <a:latin typeface="Consolas"/>
              </a:rPr>
              <a:t>measured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3163824"/>
            <a:ext cx="8412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A5764"/>
                </a:solidFill>
                <a:latin typeface="Consolas"/>
              </a:rPr>
              <a:t>stock pedal map non-linear (47%) / flattened linear (2.7%)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3163824"/>
            <a:ext cx="2468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646D"/>
                </a:solidFill>
                <a:latin typeface="Consolas"/>
              </a:rPr>
              <a:t>measured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438144"/>
            <a:ext cx="8412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A5764"/>
                </a:solidFill>
                <a:latin typeface="Consolas"/>
              </a:rPr>
              <a:t>J_w = 0.5 * 20 * r^2 = 1.369 kg m^2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3438144"/>
            <a:ext cx="2468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646D"/>
                </a:solidFill>
                <a:latin typeface="Consolas"/>
              </a:rPr>
              <a:t>measured, 1.1%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3712464"/>
            <a:ext cx="8412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A5764"/>
                </a:solidFill>
                <a:latin typeface="Consolas"/>
              </a:rPr>
              <a:t>wheel re-sync tau = 3.4e-4 * 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3712464"/>
            <a:ext cx="2468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A9611A"/>
                </a:solidFill>
                <a:latin typeface="Consolas"/>
              </a:rPr>
              <a:t>derived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986784"/>
            <a:ext cx="8412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A5764"/>
                </a:solidFill>
                <a:latin typeface="Consolas"/>
              </a:rPr>
              <a:t>Fres form, from UpdateDrag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3986784"/>
            <a:ext cx="2468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A9611A"/>
                </a:solidFill>
                <a:latin typeface="Consolas"/>
              </a:rPr>
              <a:t>from source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4261104"/>
            <a:ext cx="8412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A5764"/>
                </a:solidFill>
                <a:latin typeface="Consolas"/>
              </a:rPr>
              <a:t>drag area = 2.52 m^2 (UE4 defaults, absent from assets)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4261104"/>
            <a:ext cx="2468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933723"/>
                </a:solidFill>
                <a:latin typeface="Consolas"/>
              </a:rPr>
              <a:t>UNVERIFIED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66928" y="4626864"/>
            <a:ext cx="11064240" cy="0"/>
          </a:xfrm>
          <a:prstGeom prst="line">
            <a:avLst/>
          </a:prstGeom>
          <a:ln w="12700">
            <a:solidFill>
              <a:srgbClr val="C7CE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566928" y="4773168"/>
            <a:ext cx="5394960" cy="1097280"/>
          </a:xfrm>
          <a:prstGeom prst="rect">
            <a:avLst/>
          </a:prstGeom>
          <a:solidFill>
            <a:srgbClr val="D9E9EA"/>
          </a:solidFill>
          <a:ln w="19050">
            <a:solidFill>
              <a:srgbClr val="1B64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B646D"/>
                </a:solidFill>
                <a:latin typeface="Bahnschrift"/>
              </a:rPr>
              <a:t>RECOMMENDATION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Design A, with enable_constant_velocity.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CARLA's aero is a fixed 2.52 m^2 box and its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tire has no relaxation -- little is gained by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putting its longitudinal physics in the loop.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36208" y="4773168"/>
            <a:ext cx="5394960" cy="1097280"/>
          </a:xfrm>
          <a:prstGeom prst="rect">
            <a:avLst/>
          </a:prstGeom>
          <a:solidFill>
            <a:srgbClr val="F3DED8"/>
          </a:solidFill>
          <a:ln w="19050">
            <a:solidFill>
              <a:srgbClr val="9337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933723"/>
                </a:solidFill>
                <a:latin typeface="Bahnschrift"/>
              </a:rPr>
              <a:t>THE ONE OPEN MEASUREMENT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Two coastdowns to verify the drag area were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both contaminated -- the car left the road and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the fit returned a negative area. Needs a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collision sensor. Low stakes: ~213 N at 30 m/s.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